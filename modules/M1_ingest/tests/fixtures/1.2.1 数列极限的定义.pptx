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  <p:sldMasterId id="2147483761" r:id="rId2"/>
  </p:sldMasterIdLst>
  <p:notesMasterIdLst>
    <p:notesMasterId r:id="rId14"/>
  </p:notesMasterIdLst>
  <p:handoutMasterIdLst>
    <p:handoutMasterId r:id="rId15"/>
  </p:handoutMasterIdLst>
  <p:sldIdLst>
    <p:sldId id="337" r:id="rId3"/>
    <p:sldId id="338" r:id="rId4"/>
    <p:sldId id="339" r:id="rId5"/>
    <p:sldId id="340" r:id="rId6"/>
    <p:sldId id="341" r:id="rId7"/>
    <p:sldId id="342" r:id="rId8"/>
    <p:sldId id="332" r:id="rId9"/>
    <p:sldId id="335" r:id="rId10"/>
    <p:sldId id="336" r:id="rId11"/>
    <p:sldId id="343" r:id="rId12"/>
    <p:sldId id="344" r:id="rId13"/>
  </p:sldIdLst>
  <p:sldSz cx="6859588" cy="5145088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sz="2400" b="1" kern="1200">
        <a:solidFill>
          <a:srgbClr val="FF0000"/>
        </a:solidFill>
        <a:latin typeface="Calibri" pitchFamily="34" charset="0"/>
        <a:ea typeface="黑体" pitchFamily="49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b="1" kern="1200">
        <a:solidFill>
          <a:srgbClr val="FF0000"/>
        </a:solidFill>
        <a:latin typeface="Calibri" pitchFamily="34" charset="0"/>
        <a:ea typeface="黑体" pitchFamily="49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b="1" kern="1200">
        <a:solidFill>
          <a:srgbClr val="FF0000"/>
        </a:solidFill>
        <a:latin typeface="Calibri" pitchFamily="34" charset="0"/>
        <a:ea typeface="黑体" pitchFamily="49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b="1" kern="1200">
        <a:solidFill>
          <a:srgbClr val="FF0000"/>
        </a:solidFill>
        <a:latin typeface="Calibri" pitchFamily="34" charset="0"/>
        <a:ea typeface="黑体" pitchFamily="49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b="1" kern="1200">
        <a:solidFill>
          <a:srgbClr val="FF0000"/>
        </a:solidFill>
        <a:latin typeface="Calibri" pitchFamily="34" charset="0"/>
        <a:ea typeface="黑体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rgbClr val="FF0000"/>
        </a:solidFill>
        <a:latin typeface="Calibri" pitchFamily="34" charset="0"/>
        <a:ea typeface="黑体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rgbClr val="FF0000"/>
        </a:solidFill>
        <a:latin typeface="Calibri" pitchFamily="34" charset="0"/>
        <a:ea typeface="黑体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rgbClr val="FF0000"/>
        </a:solidFill>
        <a:latin typeface="Calibri" pitchFamily="34" charset="0"/>
        <a:ea typeface="黑体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rgbClr val="FF0000"/>
        </a:solidFill>
        <a:latin typeface="Calibri" pitchFamily="34" charset="0"/>
        <a:ea typeface="黑体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00FF"/>
    <a:srgbClr val="FF6600"/>
    <a:srgbClr val="FF9900"/>
    <a:srgbClr val="FFFFFF"/>
    <a:srgbClr val="CC6600"/>
    <a:srgbClr val="FF9999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59" autoAdjust="0"/>
    <p:restoredTop sz="98822" autoAdjust="0"/>
  </p:normalViewPr>
  <p:slideViewPr>
    <p:cSldViewPr>
      <p:cViewPr>
        <p:scale>
          <a:sx n="74" d="100"/>
          <a:sy n="74" d="100"/>
        </p:scale>
        <p:origin x="-1746" y="-474"/>
      </p:cViewPr>
      <p:guideLst>
        <p:guide orient="horz" pos="1621"/>
        <p:guide pos="216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94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0.wmf"/><Relationship Id="rId1" Type="http://schemas.openxmlformats.org/officeDocument/2006/relationships/image" Target="../media/image12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8.wmf"/><Relationship Id="rId1" Type="http://schemas.openxmlformats.org/officeDocument/2006/relationships/image" Target="../media/image26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image" Target="../media/image44.wmf"/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12" Type="http://schemas.openxmlformats.org/officeDocument/2006/relationships/image" Target="../media/image43.wmf"/><Relationship Id="rId2" Type="http://schemas.openxmlformats.org/officeDocument/2006/relationships/image" Target="../media/image33.wmf"/><Relationship Id="rId16" Type="http://schemas.openxmlformats.org/officeDocument/2006/relationships/image" Target="../media/image46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11" Type="http://schemas.openxmlformats.org/officeDocument/2006/relationships/image" Target="../media/image42.wmf"/><Relationship Id="rId5" Type="http://schemas.openxmlformats.org/officeDocument/2006/relationships/image" Target="../media/image36.wmf"/><Relationship Id="rId15" Type="http://schemas.openxmlformats.org/officeDocument/2006/relationships/image" Target="../media/image45.wmf"/><Relationship Id="rId10" Type="http://schemas.openxmlformats.org/officeDocument/2006/relationships/image" Target="../media/image41.wmf"/><Relationship Id="rId4" Type="http://schemas.openxmlformats.org/officeDocument/2006/relationships/image" Target="../media/image35.wmf"/><Relationship Id="rId9" Type="http://schemas.openxmlformats.org/officeDocument/2006/relationships/image" Target="../media/image40.wmf"/><Relationship Id="rId14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48.wmf"/><Relationship Id="rId7" Type="http://schemas.openxmlformats.org/officeDocument/2006/relationships/image" Target="../media/image52.wmf"/><Relationship Id="rId2" Type="http://schemas.openxmlformats.org/officeDocument/2006/relationships/image" Target="../media/image27.wmf"/><Relationship Id="rId1" Type="http://schemas.openxmlformats.org/officeDocument/2006/relationships/image" Target="../media/image47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10" Type="http://schemas.openxmlformats.org/officeDocument/2006/relationships/image" Target="../media/image54.wmf"/><Relationship Id="rId4" Type="http://schemas.openxmlformats.org/officeDocument/2006/relationships/image" Target="../media/image49.wmf"/><Relationship Id="rId9" Type="http://schemas.openxmlformats.org/officeDocument/2006/relationships/image" Target="../media/image53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13" Type="http://schemas.openxmlformats.org/officeDocument/2006/relationships/image" Target="../media/image67.wmf"/><Relationship Id="rId3" Type="http://schemas.openxmlformats.org/officeDocument/2006/relationships/image" Target="../media/image57.emf"/><Relationship Id="rId7" Type="http://schemas.openxmlformats.org/officeDocument/2006/relationships/image" Target="../media/image61.emf"/><Relationship Id="rId12" Type="http://schemas.openxmlformats.org/officeDocument/2006/relationships/image" Target="../media/image66.emf"/><Relationship Id="rId2" Type="http://schemas.openxmlformats.org/officeDocument/2006/relationships/image" Target="../media/image56.emf"/><Relationship Id="rId1" Type="http://schemas.openxmlformats.org/officeDocument/2006/relationships/image" Target="../media/image55.emf"/><Relationship Id="rId6" Type="http://schemas.openxmlformats.org/officeDocument/2006/relationships/image" Target="../media/image60.emf"/><Relationship Id="rId11" Type="http://schemas.openxmlformats.org/officeDocument/2006/relationships/image" Target="../media/image65.emf"/><Relationship Id="rId5" Type="http://schemas.openxmlformats.org/officeDocument/2006/relationships/image" Target="../media/image59.emf"/><Relationship Id="rId10" Type="http://schemas.openxmlformats.org/officeDocument/2006/relationships/image" Target="../media/image64.emf"/><Relationship Id="rId4" Type="http://schemas.openxmlformats.org/officeDocument/2006/relationships/image" Target="../media/image58.emf"/><Relationship Id="rId9" Type="http://schemas.openxmlformats.org/officeDocument/2006/relationships/image" Target="../media/image6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/>
            </a:lvl1pPr>
          </a:lstStyle>
          <a:p>
            <a:pPr>
              <a:defRPr/>
            </a:pPr>
            <a:fld id="{2C49891B-D3B2-43FA-B189-8F736E38062A}" type="datetimeFigureOut">
              <a:rPr lang="zh-CN" altLang="en-US"/>
              <a:pPr>
                <a:defRPr/>
              </a:pPr>
              <a:t>2016/8/13</a:t>
            </a:fld>
            <a:endParaRPr lang="en-US" altLang="zh-CN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/>
            </a:lvl1pPr>
          </a:lstStyle>
          <a:p>
            <a:pPr>
              <a:defRPr/>
            </a:pPr>
            <a:fld id="{816C80B0-5C6B-4F95-B24A-5F206E88B73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7875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65A32F9D-1BEE-4A2F-8554-4B5C73534B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62625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469" y="1599107"/>
            <a:ext cx="5830650" cy="1102065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938" y="2915550"/>
            <a:ext cx="4801712" cy="1314856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82209B-2D2A-49D7-B1DA-AF17D3534FC7}" type="datetimeFigureOut">
              <a:rPr lang="zh-CN" altLang="en-US"/>
              <a:pPr>
                <a:defRPr/>
              </a:pPr>
              <a:t>2016/8/13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A55F02-17EC-42C6-81C0-72CD2D20621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7230FC-6156-467C-964A-D39A78B14DCE}" type="datetimeFigureOut">
              <a:rPr lang="zh-CN" altLang="en-US"/>
              <a:pPr>
                <a:defRPr/>
              </a:pPr>
              <a:t>2016/8/13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520DEF-3961-4AD9-91CA-35E4FF31A1C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0" y="3306195"/>
            <a:ext cx="5830650" cy="102266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860" y="2180312"/>
            <a:ext cx="5830650" cy="1125884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58A7CA-381A-4118-B043-82793F4BFF34}" type="datetimeFigureOut">
              <a:rPr lang="zh-CN" altLang="en-US"/>
              <a:pPr>
                <a:defRPr/>
              </a:pPr>
              <a:t>2016/8/13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AA5295-EF98-4ACE-A01B-97CAA1028B0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80" y="1200521"/>
            <a:ext cx="3029651" cy="33951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957" y="1200521"/>
            <a:ext cx="3029651" cy="33951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6D2527-67E7-491C-8256-571FF44E4EB5}" type="datetimeFigureOut">
              <a:rPr lang="zh-CN" altLang="en-US"/>
              <a:pPr>
                <a:defRPr/>
              </a:pPr>
              <a:t>2016/8/13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AE5C3-CFFA-49A8-8141-45531F0FC0C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79" y="1151293"/>
            <a:ext cx="3030843" cy="4811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79" y="1632454"/>
            <a:ext cx="3030843" cy="296319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76" y="1151293"/>
            <a:ext cx="3032033" cy="4811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76" y="1632454"/>
            <a:ext cx="3032033" cy="296319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86B96B-FFB1-4E69-88B6-AD6D4D208014}" type="datetimeFigureOut">
              <a:rPr lang="zh-CN" altLang="en-US"/>
              <a:pPr>
                <a:defRPr/>
              </a:pPr>
              <a:t>2016/8/13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3B3F2F-3A9F-4E7B-AFCE-8E0DE53D33C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20521D-8E22-411B-853A-2128F4CCDA86}" type="datetimeFigureOut">
              <a:rPr lang="zh-CN" altLang="en-US"/>
              <a:pPr>
                <a:defRPr/>
              </a:pPr>
              <a:t>2016/8/13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7DCBE-131C-4467-8C0C-00060F11DA6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F9BA57-2DA1-4787-AF32-9B58864F08DA}" type="datetimeFigureOut">
              <a:rPr lang="zh-CN" altLang="en-US"/>
              <a:pPr>
                <a:defRPr/>
              </a:pPr>
              <a:t>2016/8/13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7C7526-85C5-4C98-8B99-561B6937720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80" y="204852"/>
            <a:ext cx="2256757" cy="87180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908" y="204852"/>
            <a:ext cx="3834700" cy="43907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80" y="1076657"/>
            <a:ext cx="2256757" cy="351898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ADA66C-1EAD-4D63-A366-ABBB07332C28}" type="datetimeFigureOut">
              <a:rPr lang="zh-CN" altLang="en-US"/>
              <a:pPr>
                <a:defRPr/>
              </a:pPr>
              <a:t>2016/8/13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A3EF9-675B-4B24-9DAF-D3131B5737E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527" y="3601562"/>
            <a:ext cx="4115753" cy="42558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527" y="460517"/>
            <a:ext cx="4115753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527" y="4027143"/>
            <a:ext cx="4115753" cy="603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AE49A7-CE18-4224-9466-ED9385D02B93}" type="datetimeFigureOut">
              <a:rPr lang="zh-CN" altLang="en-US"/>
              <a:pPr>
                <a:defRPr/>
              </a:pPr>
              <a:t>2016/8/13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4462E7-A85E-4153-812C-07D2306250B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8AEE63-5D18-4887-9B25-EFBBBE3EA1D3}" type="datetimeFigureOut">
              <a:rPr lang="zh-CN" altLang="en-US"/>
              <a:pPr>
                <a:defRPr/>
              </a:pPr>
              <a:t>2016/8/13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E4ED4F-9100-4E4F-A7F6-F1211504F43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3201" y="206439"/>
            <a:ext cx="1543407" cy="4389205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80" y="206439"/>
            <a:ext cx="4515895" cy="4389205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5CE466-6B17-4F7A-8C7F-41EDDDEA01E8}" type="datetimeFigureOut">
              <a:rPr lang="zh-CN" altLang="en-US"/>
              <a:pPr>
                <a:defRPr/>
              </a:pPr>
              <a:t>2016/8/13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81FF1F-B17E-4C0A-8656-80AB021BD1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860" y="3108487"/>
            <a:ext cx="5830650" cy="1021871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860" y="1982999"/>
            <a:ext cx="5830650" cy="1125487"/>
          </a:xfrm>
        </p:spPr>
        <p:txBody>
          <a:bodyPr anchor="b"/>
          <a:lstStyle>
            <a:lvl1pPr marL="0" indent="0">
              <a:buNone/>
              <a:defRPr lang="zh-CN" altLang="en-US" sz="2800" smtClean="0">
                <a:effectLst/>
              </a:defRPr>
            </a:lvl1pPr>
            <a:lvl2pPr marL="457200" indent="0">
              <a:buNone/>
              <a:defRPr lang="zh-CN" altLang="en-US" sz="2400" smtClean="0">
                <a:effectLst/>
              </a:defRPr>
            </a:lvl2pPr>
            <a:lvl3pPr marL="914400" indent="0">
              <a:buNone/>
              <a:defRPr lang="zh-CN" altLang="en-US" sz="2000" smtClean="0">
                <a:effectLst/>
              </a:defRPr>
            </a:lvl3pPr>
            <a:lvl4pPr marL="1371600" indent="0">
              <a:buNone/>
              <a:defRPr lang="zh-CN" altLang="en-US" sz="1600" smtClean="0">
                <a:effectLst/>
              </a:defRPr>
            </a:lvl4pPr>
            <a:lvl5pPr marL="1828800" indent="0">
              <a:buNone/>
              <a:defRPr lang="zh-CN" altLang="en-US" sz="1400" dirty="0" smtClean="0">
                <a:effectLst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B8723C-9E85-4844-8CE0-BD092D3C095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duotone>
              <a:schemeClr val="bg2"/>
              <a:srgbClr val="FFF1C1"/>
            </a:duotone>
            <a:lum bright="-10000" contrast="-30000"/>
          </a:blip>
          <a:stretch>
            <a:fillRect/>
          </a:stretch>
        </p:blipFill>
        <p:spPr>
          <a:xfrm>
            <a:off x="5611776" y="0"/>
            <a:ext cx="1247812" cy="1768619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491514" cy="5145088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80" y="1200522"/>
            <a:ext cx="3029651" cy="3395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957" y="1200522"/>
            <a:ext cx="3029651" cy="3395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3C58A0-E031-4728-A140-166AFDC6D5F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6103344" y="0"/>
            <a:ext cx="756245" cy="1071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480711" cy="5145088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79" y="1151691"/>
            <a:ext cx="3030843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79" y="1631660"/>
            <a:ext cx="3030843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4577" y="1151691"/>
            <a:ext cx="3032033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4577" y="1631660"/>
            <a:ext cx="3032033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3A1EE9-EC31-4D09-8B4E-D14B017EB7D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6103344" y="0"/>
            <a:ext cx="756245" cy="1071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502316" cy="5145088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1B8653-6959-419A-9291-540C1491A63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6103344" y="0"/>
            <a:ext cx="756245" cy="1071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502316" cy="5145088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06D38C-669D-4F7A-8928-031F73DB3B4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6103344" y="0"/>
            <a:ext cx="756245" cy="1071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505017" cy="5145088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5963" y="4019611"/>
            <a:ext cx="6171097" cy="576199"/>
          </a:xfrm>
        </p:spPr>
        <p:txBody>
          <a:bodyPr anchor="ctr"/>
          <a:lstStyle>
            <a:lvl1pPr algn="ctr">
              <a:defRPr lang="zh-CN" altLang="en-US" sz="3600" b="0" kern="1200" spc="50" dirty="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5367" y="321553"/>
            <a:ext cx="3834700" cy="364446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260302" y="1018287"/>
            <a:ext cx="2256757" cy="29477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C3E441-A50A-4ACF-A6C0-558E8CB42CF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6103344" y="0"/>
            <a:ext cx="756245" cy="1071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502316" cy="5145088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1594" y="160768"/>
            <a:ext cx="5587745" cy="585970"/>
          </a:xfrm>
        </p:spPr>
        <p:txBody>
          <a:bodyPr anchor="ctr"/>
          <a:lstStyle>
            <a:lvl1pPr algn="ctr" rtl="0">
              <a:spcBef>
                <a:spcPct val="0"/>
              </a:spcBef>
              <a:buNone/>
              <a:defRPr sz="36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0880" y="750313"/>
            <a:ext cx="5590564" cy="3912439"/>
          </a:xfrm>
          <a:prstGeom prst="snip2DiagRect">
            <a:avLst>
              <a:gd name="adj1" fmla="val 0"/>
              <a:gd name="adj2" fmla="val 1794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715611" y="4684171"/>
            <a:ext cx="2385834" cy="460917"/>
          </a:xfrm>
        </p:spPr>
        <p:txBody>
          <a:bodyPr anchor="t"/>
          <a:lstStyle>
            <a:lvl1pPr marL="0" indent="0" algn="r">
              <a:buNone/>
              <a:defRPr sz="1400"/>
            </a:lvl1pPr>
            <a:lvl2pPr marL="457200" indent="0" algn="r">
              <a:buNone/>
              <a:defRPr sz="1200"/>
            </a:lvl2pPr>
            <a:lvl3pPr marL="914400" indent="0" algn="r">
              <a:buNone/>
              <a:defRPr sz="1000"/>
            </a:lvl3pPr>
            <a:lvl4pPr marL="1371600" indent="0" algn="r">
              <a:buNone/>
              <a:defRPr sz="900"/>
            </a:lvl4pPr>
            <a:lvl5pPr marL="1828800" indent="0" algn="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306" y="4871162"/>
            <a:ext cx="1257579" cy="273929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1714885" y="4871160"/>
            <a:ext cx="1982864" cy="273929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512424" y="4011492"/>
            <a:ext cx="653551" cy="653602"/>
          </a:xfrm>
          <a:prstGeom prst="rtTriangl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fld id="{4322D211-FD49-44F4-9CB1-B590479E8AA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6103344" y="0"/>
            <a:ext cx="756245" cy="1071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502316" cy="5145088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80" y="1125480"/>
            <a:ext cx="6173629" cy="353727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D03EE3-FA5E-4791-8380-7027008E29C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6103344" y="0"/>
            <a:ext cx="756245" cy="1071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502316" cy="5145088"/>
          </a:xfrm>
          <a:prstGeom prst="rect">
            <a:avLst/>
          </a:prstGeom>
          <a:blipFill>
            <a:blip r:embed="rId2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466249" y="206043"/>
            <a:ext cx="1050360" cy="4456709"/>
          </a:xfrm>
        </p:spPr>
        <p:txBody>
          <a:bodyPr vert="eaVert"/>
          <a:lstStyle>
            <a:lvl1pPr algn="ctr">
              <a:defRPr>
                <a:effectLst>
                  <a:outerShdw dist="50800" dir="18900000" algn="tl" rotWithShape="0">
                    <a:srgbClr val="000000">
                      <a:alpha val="7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79" y="206043"/>
            <a:ext cx="5069678" cy="4456709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34AE8C-A307-441D-97B9-D02C7013A30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6103344" y="0"/>
            <a:ext cx="756245" cy="1071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 descr="未标题-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085978" y="223391"/>
            <a:ext cx="1436599" cy="40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 userDrawn="1"/>
        </p:nvSpPr>
        <p:spPr>
          <a:xfrm>
            <a:off x="260519" y="181315"/>
            <a:ext cx="3297360" cy="4618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FF0000"/>
                </a:solidFill>
                <a:latin typeface="Calibri" pitchFamily="34" charset="0"/>
                <a:ea typeface="黑体" pitchFamily="49" charset="-122"/>
              </a:defRPr>
            </a:lvl1pPr>
            <a:lvl2pPr marL="742950" indent="-285750" eaLnBrk="0" hangingPunct="0">
              <a:defRPr sz="2400" b="1">
                <a:solidFill>
                  <a:srgbClr val="FF0000"/>
                </a:solidFill>
                <a:latin typeface="Calibri" pitchFamily="34" charset="0"/>
                <a:ea typeface="黑体" pitchFamily="49" charset="-122"/>
              </a:defRPr>
            </a:lvl2pPr>
            <a:lvl3pPr marL="1143000" indent="-228600" eaLnBrk="0" hangingPunct="0">
              <a:defRPr sz="2400" b="1">
                <a:solidFill>
                  <a:srgbClr val="FF0000"/>
                </a:solidFill>
                <a:latin typeface="Calibri" pitchFamily="34" charset="0"/>
                <a:ea typeface="黑体" pitchFamily="49" charset="-122"/>
              </a:defRPr>
            </a:lvl3pPr>
            <a:lvl4pPr marL="1600200" indent="-228600" eaLnBrk="0" hangingPunct="0">
              <a:defRPr sz="2400" b="1">
                <a:solidFill>
                  <a:srgbClr val="FF0000"/>
                </a:solidFill>
                <a:latin typeface="Calibri" pitchFamily="34" charset="0"/>
                <a:ea typeface="黑体" pitchFamily="49" charset="-122"/>
              </a:defRPr>
            </a:lvl4pPr>
            <a:lvl5pPr marL="2057400" indent="-228600" eaLnBrk="0" hangingPunct="0">
              <a:defRPr sz="2400" b="1">
                <a:solidFill>
                  <a:srgbClr val="FF0000"/>
                </a:solidFill>
                <a:latin typeface="Calibri" pitchFamily="34" charset="0"/>
                <a:ea typeface="黑体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alibri" pitchFamily="34" charset="0"/>
                <a:ea typeface="黑体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alibri" pitchFamily="34" charset="0"/>
                <a:ea typeface="黑体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alibri" pitchFamily="34" charset="0"/>
                <a:ea typeface="黑体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Calibri" pitchFamily="34" charset="0"/>
                <a:ea typeface="黑体" pitchFamily="49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101600">
                    <a:schemeClr val="accent4">
                      <a:lumMod val="40000"/>
                      <a:lumOff val="60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数列极限的定义</a:t>
            </a:r>
            <a:endParaRPr lang="zh-CN" altLang="en-US" b="0" cap="none" spc="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101600">
                  <a:schemeClr val="accent4">
                    <a:lumMod val="40000"/>
                    <a:lumOff val="60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0" y="712994"/>
            <a:ext cx="6859588" cy="1588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2980" y="206439"/>
            <a:ext cx="6173629" cy="857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80" y="1200521"/>
            <a:ext cx="6173629" cy="3395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2979" y="4686160"/>
            <a:ext cx="1600571" cy="3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400" smtClean="0"/>
            </a:lvl1pPr>
          </a:lstStyle>
          <a:p>
            <a:pPr>
              <a:defRPr/>
            </a:pPr>
            <a:fld id="{48F31DBC-96B1-48A8-97B5-F6C606CC849F}" type="datetimeFigureOut">
              <a:rPr lang="zh-CN" altLang="en-US"/>
              <a:pPr>
                <a:defRPr/>
              </a:pPr>
              <a:t>2016/8/13</a:t>
            </a:fld>
            <a:endParaRPr lang="en-US" altLang="zh-CN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693" y="4686160"/>
            <a:ext cx="2172203" cy="3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6038" y="4686160"/>
            <a:ext cx="1600571" cy="3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 smtClean="0"/>
            </a:lvl1pPr>
          </a:lstStyle>
          <a:p>
            <a:pPr>
              <a:defRPr/>
            </a:pPr>
            <a:fld id="{9A63B25D-B4FD-4794-9A1E-9493454F1C6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28" r:id="rId2"/>
    <p:sldLayoutId id="2147483727" r:id="rId3"/>
    <p:sldLayoutId id="2147483726" r:id="rId4"/>
    <p:sldLayoutId id="2147483725" r:id="rId5"/>
    <p:sldLayoutId id="2147483724" r:id="rId6"/>
    <p:sldLayoutId id="2147483723" r:id="rId7"/>
    <p:sldLayoutId id="2147483722" r:id="rId8"/>
    <p:sldLayoutId id="2147483721" r:id="rId9"/>
    <p:sldLayoutId id="2147483720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42980" y="206042"/>
            <a:ext cx="5833350" cy="857515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80" y="1200522"/>
            <a:ext cx="6173629" cy="33955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42979" y="4768735"/>
            <a:ext cx="1600571" cy="273929"/>
          </a:xfrm>
          <a:prstGeom prst="rect">
            <a:avLst/>
          </a:prstGeom>
        </p:spPr>
        <p:txBody>
          <a:bodyPr vert="horz" lIns="274320" rtlCol="0" anchor="ctr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8F31DBC-96B1-48A8-97B5-F6C606CC849F}" type="datetimeFigureOut">
              <a:rPr lang="zh-CN" altLang="en-US" smtClean="0"/>
              <a:pPr>
                <a:defRPr/>
              </a:pPr>
              <a:t>2016/8/13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343693" y="4768735"/>
            <a:ext cx="2172203" cy="273929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916038" y="4768735"/>
            <a:ext cx="1600571" cy="273929"/>
          </a:xfrm>
          <a:prstGeom prst="rect">
            <a:avLst/>
          </a:prstGeom>
        </p:spPr>
        <p:txBody>
          <a:bodyPr vert="horz" lIns="45720" tIns="45720" rIns="45720" rtlCol="0" anchor="ctr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A63B25D-B4FD-4794-9A1E-9493454F1C6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</p:sldLayoutIdLst>
  <p:txStyles>
    <p:titleStyle>
      <a:lvl1pPr algn="l" rtl="0" eaLnBrk="1" latinLnBrk="0" hangingPunct="1">
        <a:spcBef>
          <a:spcPct val="0"/>
        </a:spcBef>
        <a:buNone/>
        <a:defRPr kumimoji="0" lang="zh-CN" altLang="en-US" sz="4400" b="0" kern="1200" spc="50" dirty="0">
          <a:ln w="12700">
            <a:noFill/>
            <a:prstDash val="solid"/>
          </a:ln>
          <a:solidFill>
            <a:schemeClr val="accent4"/>
          </a:solidFill>
          <a:effectLst>
            <a:outerShdw blurRad="38100" dist="20320" dir="27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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11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5.wmf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4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6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7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2.bin"/><Relationship Id="rId5" Type="http://schemas.openxmlformats.org/officeDocument/2006/relationships/oleObject" Target="../embeddings/oleObject21.bin"/><Relationship Id="rId4" Type="http://schemas.openxmlformats.org/officeDocument/2006/relationships/image" Target="../media/image1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28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7.wmf"/><Relationship Id="rId17" Type="http://schemas.openxmlformats.org/officeDocument/2006/relationships/image" Target="../media/image29.wmf"/><Relationship Id="rId2" Type="http://schemas.openxmlformats.org/officeDocument/2006/relationships/slideLayout" Target="../slideLayouts/slideLayout23.xml"/><Relationship Id="rId16" Type="http://schemas.openxmlformats.org/officeDocument/2006/relationships/oleObject" Target="../embeddings/oleObject30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image" Target="../media/image28.wmf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6.bin"/><Relationship Id="rId14" Type="http://schemas.openxmlformats.org/officeDocument/2006/relationships/oleObject" Target="../embeddings/oleObject29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0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34.bin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1.bin"/><Relationship Id="rId18" Type="http://schemas.openxmlformats.org/officeDocument/2006/relationships/image" Target="../media/image39.wmf"/><Relationship Id="rId26" Type="http://schemas.openxmlformats.org/officeDocument/2006/relationships/image" Target="../media/image43.wmf"/><Relationship Id="rId3" Type="http://schemas.openxmlformats.org/officeDocument/2006/relationships/oleObject" Target="../embeddings/oleObject36.bin"/><Relationship Id="rId21" Type="http://schemas.openxmlformats.org/officeDocument/2006/relationships/oleObject" Target="../embeddings/oleObject45.bin"/><Relationship Id="rId34" Type="http://schemas.openxmlformats.org/officeDocument/2006/relationships/image" Target="../media/image46.wmf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43.bin"/><Relationship Id="rId25" Type="http://schemas.openxmlformats.org/officeDocument/2006/relationships/oleObject" Target="../embeddings/oleObject47.bin"/><Relationship Id="rId33" Type="http://schemas.openxmlformats.org/officeDocument/2006/relationships/oleObject" Target="../embeddings/oleObject51.bin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38.wmf"/><Relationship Id="rId20" Type="http://schemas.openxmlformats.org/officeDocument/2006/relationships/image" Target="../media/image40.wmf"/><Relationship Id="rId29" Type="http://schemas.openxmlformats.org/officeDocument/2006/relationships/oleObject" Target="../embeddings/oleObject49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40.bin"/><Relationship Id="rId24" Type="http://schemas.openxmlformats.org/officeDocument/2006/relationships/image" Target="../media/image42.wmf"/><Relationship Id="rId32" Type="http://schemas.openxmlformats.org/officeDocument/2006/relationships/image" Target="../media/image45.wmf"/><Relationship Id="rId5" Type="http://schemas.openxmlformats.org/officeDocument/2006/relationships/oleObject" Target="../embeddings/oleObject37.bin"/><Relationship Id="rId15" Type="http://schemas.openxmlformats.org/officeDocument/2006/relationships/oleObject" Target="../embeddings/oleObject42.bin"/><Relationship Id="rId23" Type="http://schemas.openxmlformats.org/officeDocument/2006/relationships/oleObject" Target="../embeddings/oleObject46.bin"/><Relationship Id="rId28" Type="http://schemas.openxmlformats.org/officeDocument/2006/relationships/image" Target="../media/image44.wmf"/><Relationship Id="rId10" Type="http://schemas.openxmlformats.org/officeDocument/2006/relationships/image" Target="../media/image35.wmf"/><Relationship Id="rId19" Type="http://schemas.openxmlformats.org/officeDocument/2006/relationships/oleObject" Target="../embeddings/oleObject44.bin"/><Relationship Id="rId31" Type="http://schemas.openxmlformats.org/officeDocument/2006/relationships/oleObject" Target="../embeddings/oleObject50.bin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37.wmf"/><Relationship Id="rId22" Type="http://schemas.openxmlformats.org/officeDocument/2006/relationships/image" Target="../media/image41.wmf"/><Relationship Id="rId27" Type="http://schemas.openxmlformats.org/officeDocument/2006/relationships/oleObject" Target="../embeddings/oleObject48.bin"/><Relationship Id="rId30" Type="http://schemas.openxmlformats.org/officeDocument/2006/relationships/image" Target="../media/image27.wmf"/><Relationship Id="rId8" Type="http://schemas.openxmlformats.org/officeDocument/2006/relationships/image" Target="../media/image3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57.bin"/><Relationship Id="rId18" Type="http://schemas.openxmlformats.org/officeDocument/2006/relationships/image" Target="../media/image24.wmf"/><Relationship Id="rId3" Type="http://schemas.openxmlformats.org/officeDocument/2006/relationships/oleObject" Target="../embeddings/oleObject52.bin"/><Relationship Id="rId21" Type="http://schemas.openxmlformats.org/officeDocument/2006/relationships/oleObject" Target="../embeddings/oleObject61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50.wmf"/><Relationship Id="rId17" Type="http://schemas.openxmlformats.org/officeDocument/2006/relationships/oleObject" Target="../embeddings/oleObject59.bin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52.wmf"/><Relationship Id="rId20" Type="http://schemas.openxmlformats.org/officeDocument/2006/relationships/image" Target="../media/image53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5" Type="http://schemas.openxmlformats.org/officeDocument/2006/relationships/oleObject" Target="../embeddings/oleObject58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60.bin"/><Relationship Id="rId4" Type="http://schemas.openxmlformats.org/officeDocument/2006/relationships/image" Target="../media/image47.wmf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51.wmf"/><Relationship Id="rId22" Type="http://schemas.openxmlformats.org/officeDocument/2006/relationships/image" Target="../media/image5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13" Type="http://schemas.openxmlformats.org/officeDocument/2006/relationships/oleObject" Target="../embeddings/oleObject67.bin"/><Relationship Id="rId18" Type="http://schemas.openxmlformats.org/officeDocument/2006/relationships/image" Target="../media/image62.emf"/><Relationship Id="rId26" Type="http://schemas.openxmlformats.org/officeDocument/2006/relationships/image" Target="../media/image66.emf"/><Relationship Id="rId3" Type="http://schemas.openxmlformats.org/officeDocument/2006/relationships/oleObject" Target="../embeddings/oleObject62.bin"/><Relationship Id="rId21" Type="http://schemas.openxmlformats.org/officeDocument/2006/relationships/oleObject" Target="../embeddings/oleObject71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59.emf"/><Relationship Id="rId17" Type="http://schemas.openxmlformats.org/officeDocument/2006/relationships/oleObject" Target="../embeddings/oleObject69.bin"/><Relationship Id="rId25" Type="http://schemas.openxmlformats.org/officeDocument/2006/relationships/oleObject" Target="../embeddings/oleObject73.bin"/><Relationship Id="rId2" Type="http://schemas.openxmlformats.org/officeDocument/2006/relationships/slideLayout" Target="../slideLayouts/slideLayout23.xml"/><Relationship Id="rId16" Type="http://schemas.openxmlformats.org/officeDocument/2006/relationships/image" Target="../media/image61.emf"/><Relationship Id="rId20" Type="http://schemas.openxmlformats.org/officeDocument/2006/relationships/image" Target="../media/image63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56.emf"/><Relationship Id="rId11" Type="http://schemas.openxmlformats.org/officeDocument/2006/relationships/oleObject" Target="../embeddings/oleObject66.bin"/><Relationship Id="rId24" Type="http://schemas.openxmlformats.org/officeDocument/2006/relationships/image" Target="../media/image65.emf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23" Type="http://schemas.openxmlformats.org/officeDocument/2006/relationships/oleObject" Target="../embeddings/oleObject72.bin"/><Relationship Id="rId28" Type="http://schemas.openxmlformats.org/officeDocument/2006/relationships/image" Target="../media/image67.wmf"/><Relationship Id="rId10" Type="http://schemas.openxmlformats.org/officeDocument/2006/relationships/image" Target="../media/image58.emf"/><Relationship Id="rId19" Type="http://schemas.openxmlformats.org/officeDocument/2006/relationships/oleObject" Target="../embeddings/oleObject70.bin"/><Relationship Id="rId4" Type="http://schemas.openxmlformats.org/officeDocument/2006/relationships/image" Target="../media/image55.e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60.emf"/><Relationship Id="rId22" Type="http://schemas.openxmlformats.org/officeDocument/2006/relationships/image" Target="../media/image64.emf"/><Relationship Id="rId27" Type="http://schemas.openxmlformats.org/officeDocument/2006/relationships/oleObject" Target="../embeddings/oleObject74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20902" y="142006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数列极限</a:t>
            </a:r>
            <a:endParaRPr lang="zh-CN" altLang="en-US" sz="32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02162" y="2325419"/>
            <a:ext cx="2776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</a:rPr>
              <a:t>1. </a:t>
            </a:r>
            <a:r>
              <a:rPr lang="zh-CN" altLang="en-US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</a:rPr>
              <a:t> 数列极限的定义</a:t>
            </a:r>
            <a:endParaRPr lang="zh-CN" altLang="en-US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99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02162" y="2922239"/>
            <a:ext cx="2776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2. </a:t>
            </a:r>
            <a:r>
              <a:rPr lang="zh-CN" altLang="en-US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 数列极限的性质</a:t>
            </a:r>
            <a:endParaRPr lang="zh-CN" altLang="en-US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178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903118"/>
              </p:ext>
            </p:extLst>
          </p:nvPr>
        </p:nvGraphicFramePr>
        <p:xfrm>
          <a:off x="4884763" y="858224"/>
          <a:ext cx="1127397" cy="316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6" name="Equation" r:id="rId3" imgW="1358310" imgH="380835" progId="Equation.DSMT4">
                  <p:embed/>
                </p:oleObj>
              </mc:Choice>
              <mc:Fallback>
                <p:oleObj name="Equation" r:id="rId3" imgW="1358310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4763" y="858224"/>
                        <a:ext cx="1127397" cy="3160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27"/>
          <p:cNvGrpSpPr/>
          <p:nvPr/>
        </p:nvGrpSpPr>
        <p:grpSpPr>
          <a:xfrm>
            <a:off x="1519670" y="1334981"/>
            <a:ext cx="2332250" cy="369332"/>
            <a:chOff x="1115616" y="1334981"/>
            <a:chExt cx="2332250" cy="369332"/>
          </a:xfrm>
        </p:grpSpPr>
        <p:sp>
          <p:nvSpPr>
            <p:cNvPr id="29" name="Rectangle 9"/>
            <p:cNvSpPr>
              <a:spLocks noChangeArrowheads="1"/>
            </p:cNvSpPr>
            <p:nvPr/>
          </p:nvSpPr>
          <p:spPr bwMode="auto">
            <a:xfrm>
              <a:off x="1366848" y="1334981"/>
              <a:ext cx="20810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称为通项</a:t>
              </a:r>
              <a:r>
                <a:rPr kumimoji="0" lang="en-US" altLang="zh-CN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kumimoji="0" lang="zh-CN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一般项</a:t>
              </a:r>
              <a:r>
                <a:rPr kumimoji="0" lang="en-US" altLang="zh-CN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) .</a:t>
              </a:r>
            </a:p>
          </p:txBody>
        </p:sp>
        <p:graphicFrame>
          <p:nvGraphicFramePr>
            <p:cNvPr id="3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4348181"/>
                </p:ext>
              </p:extLst>
            </p:nvPr>
          </p:nvGraphicFramePr>
          <p:xfrm>
            <a:off x="1115616" y="1355495"/>
            <a:ext cx="273947" cy="3160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7" name="Equation" r:id="rId5" imgW="330057" imgH="380835" progId="Equation.DSMT4">
                    <p:embed/>
                  </p:oleObj>
                </mc:Choice>
                <mc:Fallback>
                  <p:oleObj name="Equation" r:id="rId5" imgW="330057" imgH="38083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5616" y="1355495"/>
                          <a:ext cx="273947" cy="3160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Rectangle 1"/>
          <p:cNvSpPr>
            <a:spLocks noChangeArrowheads="1"/>
          </p:cNvSpPr>
          <p:nvPr/>
        </p:nvSpPr>
        <p:spPr bwMode="auto">
          <a:xfrm>
            <a:off x="827584" y="834266"/>
            <a:ext cx="411402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fontAlgn="auto">
              <a:spcBef>
                <a:spcPct val="50000"/>
              </a:spcBef>
              <a:spcAft>
                <a:spcPts val="0"/>
              </a:spcAft>
            </a:pPr>
            <a:r>
              <a:rPr kumimoji="0" lang="zh-CN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自变量取正整数的函数称为</a:t>
            </a:r>
            <a:r>
              <a:rPr kumimoji="0" lang="zh-CN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数</a:t>
            </a:r>
            <a:r>
              <a:rPr lang="zh-CN" altLang="en-US" sz="1800" kern="0" dirty="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列</a:t>
            </a:r>
            <a:r>
              <a:rPr lang="en-US" altLang="zh-CN" sz="1800" kern="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, </a:t>
            </a:r>
            <a:r>
              <a:rPr lang="zh-CN" altLang="en-US" sz="1800" kern="0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记作</a:t>
            </a:r>
            <a:endParaRPr kumimoji="0" lang="en-US" altLang="zh-CN" sz="180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3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780252"/>
              </p:ext>
            </p:extLst>
          </p:nvPr>
        </p:nvGraphicFramePr>
        <p:xfrm>
          <a:off x="827584" y="1851670"/>
          <a:ext cx="1718183" cy="611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8" name="Equation" r:id="rId7" imgW="2070100" imgH="736600" progId="Equation.DSMT4">
                  <p:embed/>
                </p:oleObj>
              </mc:Choice>
              <mc:Fallback>
                <p:oleObj name="Equation" r:id="rId7" imgW="2070100" imgH="736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1851670"/>
                        <a:ext cx="1718183" cy="6113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5907638"/>
              </p:ext>
            </p:extLst>
          </p:nvPr>
        </p:nvGraphicFramePr>
        <p:xfrm>
          <a:off x="827584" y="2643758"/>
          <a:ext cx="2919857" cy="643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" name="Equation" r:id="rId9" imgW="3517900" imgH="774700" progId="Equation.DSMT4">
                  <p:embed/>
                </p:oleObj>
              </mc:Choice>
              <mc:Fallback>
                <p:oleObj name="Equation" r:id="rId9" imgW="3517900" imgH="774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2643758"/>
                        <a:ext cx="2919857" cy="6430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542926"/>
              </p:ext>
            </p:extLst>
          </p:nvPr>
        </p:nvGraphicFramePr>
        <p:xfrm>
          <a:off x="827584" y="3507854"/>
          <a:ext cx="2129282" cy="611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0" name="Equation" r:id="rId11" imgW="2565400" imgH="736600" progId="Equation.DSMT4">
                  <p:embed/>
                </p:oleObj>
              </mc:Choice>
              <mc:Fallback>
                <p:oleObj name="Equation" r:id="rId11" imgW="2565400" imgH="736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3507854"/>
                        <a:ext cx="2129282" cy="6113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4468908"/>
              </p:ext>
            </p:extLst>
          </p:nvPr>
        </p:nvGraphicFramePr>
        <p:xfrm>
          <a:off x="827584" y="4371950"/>
          <a:ext cx="1780656" cy="326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1" name="Equation" r:id="rId13" imgW="2145369" imgH="393529" progId="Equation.DSMT4">
                  <p:embed/>
                </p:oleObj>
              </mc:Choice>
              <mc:Fallback>
                <p:oleObj name="Equation" r:id="rId13" imgW="2145369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4371950"/>
                        <a:ext cx="1780656" cy="326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Group 35"/>
          <p:cNvGrpSpPr/>
          <p:nvPr/>
        </p:nvGrpSpPr>
        <p:grpSpPr>
          <a:xfrm>
            <a:off x="390069" y="1340590"/>
            <a:ext cx="985585" cy="369332"/>
            <a:chOff x="390069" y="1340590"/>
            <a:chExt cx="985585" cy="369332"/>
          </a:xfrm>
        </p:grpSpPr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390069" y="1340590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rPr>
                <a:t>或</a:t>
              </a:r>
            </a:p>
          </p:txBody>
        </p:sp>
        <p:graphicFrame>
          <p:nvGraphicFramePr>
            <p:cNvPr id="38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5790449"/>
                </p:ext>
              </p:extLst>
            </p:nvPr>
          </p:nvGraphicFramePr>
          <p:xfrm>
            <a:off x="827760" y="1393829"/>
            <a:ext cx="547894" cy="3160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2" name="Equation" r:id="rId15" imgW="660113" imgH="380835" progId="Equation.DSMT4">
                    <p:embed/>
                  </p:oleObj>
                </mc:Choice>
                <mc:Fallback>
                  <p:oleObj name="Equation" r:id="rId15" imgW="660113" imgH="38083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7760" y="1393829"/>
                          <a:ext cx="547894" cy="3160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7392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6092353"/>
              </p:ext>
            </p:extLst>
          </p:nvPr>
        </p:nvGraphicFramePr>
        <p:xfrm>
          <a:off x="683568" y="1312333"/>
          <a:ext cx="1633838" cy="611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" name="Equation" r:id="rId3" imgW="1968480" imgH="736560" progId="Equation.DSMT4">
                  <p:embed/>
                </p:oleObj>
              </mc:Choice>
              <mc:Fallback>
                <p:oleObj name="Equation" r:id="rId3" imgW="196848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312333"/>
                        <a:ext cx="1633838" cy="6113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22"/>
          <p:cNvSpPr>
            <a:spLocks noChangeArrowheads="1"/>
          </p:cNvSpPr>
          <p:nvPr/>
        </p:nvSpPr>
        <p:spPr bwMode="auto">
          <a:xfrm>
            <a:off x="683568" y="834266"/>
            <a:ext cx="29546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考察下面数列的变化趋势：</a:t>
            </a:r>
            <a:endParaRPr kumimoji="0" lang="en-US" altLang="zh-CN" sz="180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2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366539"/>
              </p:ext>
            </p:extLst>
          </p:nvPr>
        </p:nvGraphicFramePr>
        <p:xfrm>
          <a:off x="683568" y="3762227"/>
          <a:ext cx="1780656" cy="326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7" name="Equation" r:id="rId5" imgW="2145369" imgH="393529" progId="Equation.DSMT4">
                  <p:embed/>
                </p:oleObj>
              </mc:Choice>
              <mc:Fallback>
                <p:oleObj name="Equation" r:id="rId5" imgW="2145369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3762227"/>
                        <a:ext cx="1780656" cy="326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9512316"/>
              </p:ext>
            </p:extLst>
          </p:nvPr>
        </p:nvGraphicFramePr>
        <p:xfrm>
          <a:off x="683568" y="4325590"/>
          <a:ext cx="2118741" cy="337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8" name="Equation" r:id="rId7" imgW="2552700" imgH="406400" progId="Equation.DSMT4">
                  <p:embed/>
                </p:oleObj>
              </mc:Choice>
              <mc:Fallback>
                <p:oleObj name="Equation" r:id="rId7" imgW="25527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4325590"/>
                        <a:ext cx="2118741" cy="337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AutoShape 22"/>
          <p:cNvSpPr>
            <a:spLocks/>
          </p:cNvSpPr>
          <p:nvPr/>
        </p:nvSpPr>
        <p:spPr bwMode="auto">
          <a:xfrm>
            <a:off x="3675424" y="1575513"/>
            <a:ext cx="417786" cy="1872208"/>
          </a:xfrm>
          <a:prstGeom prst="rightBrace">
            <a:avLst>
              <a:gd name="adj1" fmla="val 86088"/>
              <a:gd name="adj2" fmla="val 42556"/>
            </a:avLst>
          </a:prstGeom>
          <a:noFill/>
          <a:ln w="1905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4356734" y="2253803"/>
            <a:ext cx="971904" cy="369332"/>
            <a:chOff x="4356734" y="2253803"/>
            <a:chExt cx="971904" cy="369332"/>
          </a:xfrm>
        </p:grpSpPr>
        <p:cxnSp>
          <p:nvCxnSpPr>
            <p:cNvPr id="24" name="Straight Arrow Connector 7"/>
            <p:cNvCxnSpPr>
              <a:cxnSpLocks noChangeShapeType="1"/>
            </p:cNvCxnSpPr>
            <p:nvPr/>
          </p:nvCxnSpPr>
          <p:spPr bwMode="auto">
            <a:xfrm>
              <a:off x="4356734" y="2427734"/>
              <a:ext cx="574675" cy="0"/>
            </a:xfrm>
            <a:prstGeom prst="straightConnector1">
              <a:avLst/>
            </a:prstGeom>
            <a:noFill/>
            <a:ln w="19050" algn="ctr">
              <a:solidFill>
                <a:srgbClr val="FFFF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Rectangle 8"/>
            <p:cNvSpPr>
              <a:spLocks noChangeArrowheads="1"/>
            </p:cNvSpPr>
            <p:nvPr/>
          </p:nvSpPr>
          <p:spPr bwMode="auto">
            <a:xfrm>
              <a:off x="5028556" y="2253803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0</a:t>
              </a:r>
              <a:endParaRPr kumimoji="0" lang="zh-CN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3491880" y="3928976"/>
            <a:ext cx="1013257" cy="168510"/>
            <a:chOff x="3491880" y="3928976"/>
            <a:chExt cx="1013257" cy="168510"/>
          </a:xfrm>
        </p:grpSpPr>
        <p:cxnSp>
          <p:nvCxnSpPr>
            <p:cNvPr id="27" name="Straight Arrow Connector 23"/>
            <p:cNvCxnSpPr>
              <a:cxnSpLocks noChangeShapeType="1"/>
            </p:cNvCxnSpPr>
            <p:nvPr/>
          </p:nvCxnSpPr>
          <p:spPr bwMode="auto">
            <a:xfrm>
              <a:off x="3491880" y="4011910"/>
              <a:ext cx="576263" cy="0"/>
            </a:xfrm>
            <a:prstGeom prst="straightConnector1">
              <a:avLst/>
            </a:prstGeom>
            <a:noFill/>
            <a:ln w="19050" algn="ctr">
              <a:solidFill>
                <a:srgbClr val="FFFF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28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8534028"/>
                </p:ext>
              </p:extLst>
            </p:nvPr>
          </p:nvGraphicFramePr>
          <p:xfrm>
            <a:off x="4283968" y="3928976"/>
            <a:ext cx="221169" cy="168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9" name="Equation" r:id="rId9" imgW="266469" imgH="203024" progId="Equation.DSMT4">
                    <p:embed/>
                  </p:oleObj>
                </mc:Choice>
                <mc:Fallback>
                  <p:oleObj name="Equation" r:id="rId9" imgW="266469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3968" y="3928976"/>
                          <a:ext cx="221169" cy="1685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3275856" y="4342036"/>
            <a:ext cx="20313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没有趋势，有规律</a:t>
            </a:r>
          </a:p>
        </p:txBody>
      </p:sp>
      <p:graphicFrame>
        <p:nvGraphicFramePr>
          <p:cNvPr id="3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3754664"/>
              </p:ext>
            </p:extLst>
          </p:nvPr>
        </p:nvGraphicFramePr>
        <p:xfrm>
          <a:off x="683568" y="2139951"/>
          <a:ext cx="2835313" cy="642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0" name="Equation" r:id="rId11" imgW="3416040" imgH="774360" progId="Equation.DSMT4">
                  <p:embed/>
                </p:oleObj>
              </mc:Choice>
              <mc:Fallback>
                <p:oleObj name="Equation" r:id="rId11" imgW="3416040" imgH="774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2139951"/>
                        <a:ext cx="2835313" cy="6427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546337"/>
              </p:ext>
            </p:extLst>
          </p:nvPr>
        </p:nvGraphicFramePr>
        <p:xfrm>
          <a:off x="683568" y="2932113"/>
          <a:ext cx="2034230" cy="611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1" name="Equation" r:id="rId13" imgW="2450880" imgH="736560" progId="Equation.DSMT4">
                  <p:embed/>
                </p:oleObj>
              </mc:Choice>
              <mc:Fallback>
                <p:oleObj name="Equation" r:id="rId13" imgW="245088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2932113"/>
                        <a:ext cx="2034230" cy="6113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3096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3337429" y="-230832"/>
            <a:ext cx="1847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323528" y="843558"/>
            <a:ext cx="5400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l">
              <a:lnSpc>
                <a:spcPct val="150000"/>
              </a:lnSpc>
              <a:spcBef>
                <a:spcPct val="50000"/>
              </a:spcBef>
            </a:pP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当</a:t>
            </a:r>
            <a:r>
              <a:rPr lang="en-US" altLang="en-US" sz="1800" i="1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无限增大时</a:t>
            </a:r>
            <a:r>
              <a:rPr lang="en-US" altLang="zh-CN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如果</a:t>
            </a:r>
            <a:r>
              <a:rPr lang="en-US" altLang="zh-CN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无限趋近于某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一确定的数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值 </a:t>
            </a:r>
            <a:r>
              <a:rPr lang="en-US" altLang="zh-CN" sz="1800" i="1" dirty="0" smtClean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</a:t>
            </a:r>
            <a:r>
              <a:rPr lang="zh-CN" altLang="en-US" sz="1800" i="1" dirty="0" smtClean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zh-CN" altLang="en-US" sz="1800" dirty="0" smtClean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则 称</a:t>
            </a:r>
            <a:r>
              <a:rPr lang="en-US" altLang="zh-CN" sz="1800" i="1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</a:t>
            </a:r>
            <a:r>
              <a:rPr lang="zh-CN" altLang="en-US" sz="1800" dirty="0" smtClean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为</a:t>
            </a:r>
            <a:r>
              <a:rPr lang="en-US" altLang="en-US" sz="1800" i="1" dirty="0" smtClean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1800" dirty="0" smtClean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趋向于无穷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大时数列     的</a:t>
            </a:r>
            <a:r>
              <a:rPr lang="zh-CN" altLang="en-US" sz="1800" dirty="0" smtClean="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</a:rPr>
              <a:t>极限</a:t>
            </a:r>
            <a:r>
              <a:rPr lang="en-US" altLang="zh-CN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01190"/>
              </p:ext>
            </p:extLst>
          </p:nvPr>
        </p:nvGraphicFramePr>
        <p:xfrm>
          <a:off x="2924448" y="950561"/>
          <a:ext cx="279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Equation" r:id="rId3" imgW="279360" imgH="330120" progId="Equation.DSMT4">
                  <p:embed/>
                </p:oleObj>
              </mc:Choice>
              <mc:Fallback>
                <p:oleObj name="Equation" r:id="rId3" imgW="2793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24448" y="950561"/>
                        <a:ext cx="2794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8451812"/>
              </p:ext>
            </p:extLst>
          </p:nvPr>
        </p:nvGraphicFramePr>
        <p:xfrm>
          <a:off x="4404234" y="1377454"/>
          <a:ext cx="279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" name="Equation" r:id="rId5" imgW="279360" imgH="330120" progId="Equation.DSMT4">
                  <p:embed/>
                </p:oleObj>
              </mc:Choice>
              <mc:Fallback>
                <p:oleObj name="Equation" r:id="rId5" imgW="2793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4234" y="1377454"/>
                        <a:ext cx="279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/>
          <p:cNvSpPr/>
          <p:nvPr/>
        </p:nvSpPr>
        <p:spPr>
          <a:xfrm>
            <a:off x="395536" y="2643758"/>
            <a:ext cx="5472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sz="1800" dirty="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zh-CN" altLang="en-US" sz="1800" dirty="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</a:rPr>
              <a:t>无限接近”意味着什么</a:t>
            </a:r>
            <a:r>
              <a:rPr lang="en-US" altLang="zh-CN" sz="1800" dirty="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</a:rPr>
              <a:t>?</a:t>
            </a:r>
            <a:r>
              <a:rPr lang="zh-CN" altLang="en-US" sz="1800" dirty="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</a:rPr>
              <a:t>如何用数学语言刻</a:t>
            </a:r>
            <a:r>
              <a:rPr lang="zh-CN" altLang="en-US" sz="1800" dirty="0" smtClean="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</a:rPr>
              <a:t>划呢？</a:t>
            </a:r>
            <a:endParaRPr lang="en-US" altLang="zh-CN" sz="1800" dirty="0">
              <a:solidFill>
                <a:srgbClr val="FF99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6567074"/>
              </p:ext>
            </p:extLst>
          </p:nvPr>
        </p:nvGraphicFramePr>
        <p:xfrm>
          <a:off x="1496419" y="1851670"/>
          <a:ext cx="1296987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Equation" r:id="rId7" imgW="1562040" imgH="774360" progId="Equation.DSMT4">
                  <p:embed/>
                </p:oleObj>
              </mc:Choice>
              <mc:Fallback>
                <p:oleObj name="Equation" r:id="rId7" imgW="1562040" imgH="774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6419" y="1851670"/>
                        <a:ext cx="1296987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/>
          <p:cNvSpPr/>
          <p:nvPr/>
        </p:nvSpPr>
        <p:spPr>
          <a:xfrm>
            <a:off x="2760375" y="1995686"/>
            <a:ext cx="13163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的极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限为</a:t>
            </a:r>
            <a:r>
              <a:rPr lang="en-US" altLang="zh-CN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0.</a:t>
            </a:r>
            <a:endParaRPr lang="zh-CN" altLang="en-US" sz="1800" dirty="0"/>
          </a:p>
        </p:txBody>
      </p:sp>
      <p:sp>
        <p:nvSpPr>
          <p:cNvPr id="27" name="Rectangle 26"/>
          <p:cNvSpPr/>
          <p:nvPr/>
        </p:nvSpPr>
        <p:spPr>
          <a:xfrm>
            <a:off x="673579" y="1995686"/>
            <a:ext cx="946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如， </a:t>
            </a:r>
            <a:endParaRPr lang="zh-CN" altLang="en-US" sz="1800" dirty="0"/>
          </a:p>
        </p:txBody>
      </p:sp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8826777"/>
              </p:ext>
            </p:extLst>
          </p:nvPr>
        </p:nvGraphicFramePr>
        <p:xfrm>
          <a:off x="671624" y="3219822"/>
          <a:ext cx="1657350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Equation" r:id="rId9" imgW="1663560" imgH="647640" progId="Equation.DSMT4">
                  <p:embed/>
                </p:oleObj>
              </mc:Choice>
              <mc:Fallback>
                <p:oleObj name="Equation" r:id="rId9" imgW="166356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624" y="3219822"/>
                        <a:ext cx="1657350" cy="652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709465"/>
              </p:ext>
            </p:extLst>
          </p:nvPr>
        </p:nvGraphicFramePr>
        <p:xfrm>
          <a:off x="673579" y="3893666"/>
          <a:ext cx="11684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4" name="Equation" r:id="rId11" imgW="1168200" imgH="622080" progId="Equation.DSMT4">
                  <p:embed/>
                </p:oleObj>
              </mc:Choice>
              <mc:Fallback>
                <p:oleObj name="Equation" r:id="rId11" imgW="1168200" imgH="622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3579" y="3893666"/>
                        <a:ext cx="1168400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29"/>
          <p:cNvSpPr/>
          <p:nvPr/>
        </p:nvSpPr>
        <p:spPr>
          <a:xfrm>
            <a:off x="2051720" y="4083918"/>
            <a:ext cx="34563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0" hangingPunct="0"/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刻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划了   与 </a:t>
            </a:r>
            <a:r>
              <a:rPr lang="en-US" altLang="zh-CN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的接近程度，例如</a:t>
            </a:r>
            <a:endParaRPr lang="en-US" altLang="zh-CN" sz="18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913219"/>
              </p:ext>
            </p:extLst>
          </p:nvPr>
        </p:nvGraphicFramePr>
        <p:xfrm>
          <a:off x="2769191" y="4103484"/>
          <a:ext cx="279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5" name="Equation" r:id="rId13" imgW="279400" imgH="330200" progId="Equation.DSMT4">
                  <p:embed/>
                </p:oleObj>
              </mc:Choice>
              <mc:Fallback>
                <p:oleObj name="Equation" r:id="rId13" imgW="2794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9191" y="4103484"/>
                        <a:ext cx="279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1386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467544" y="843558"/>
            <a:ext cx="5544616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0" hangingPunct="0">
              <a:lnSpc>
                <a:spcPct val="150000"/>
              </a:lnSpc>
            </a:pP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例如，让     与 </a:t>
            </a: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的距离小于</a:t>
            </a:r>
            <a:r>
              <a:rPr lang="en-US" altLang="zh-CN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0.01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，只要</a:t>
            </a:r>
            <a:r>
              <a:rPr lang="en-US" altLang="zh-CN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n&gt;100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时，就能做到；</a:t>
            </a:r>
            <a:endParaRPr lang="en-US" altLang="zh-CN" sz="18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594881"/>
              </p:ext>
            </p:extLst>
          </p:nvPr>
        </p:nvGraphicFramePr>
        <p:xfrm>
          <a:off x="1916336" y="945406"/>
          <a:ext cx="279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Equation" r:id="rId3" imgW="279400" imgH="330200" progId="Equation.DSMT4">
                  <p:embed/>
                </p:oleObj>
              </mc:Choice>
              <mc:Fallback>
                <p:oleObj name="Equation" r:id="rId3" imgW="2794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336" y="945406"/>
                        <a:ext cx="279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467544" y="1792436"/>
            <a:ext cx="5544616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eaLnBrk="0" hangingPunct="0">
              <a:lnSpc>
                <a:spcPct val="150000"/>
              </a:lnSpc>
            </a:pP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让     与 </a:t>
            </a: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的距离小于</a:t>
            </a:r>
            <a:r>
              <a:rPr lang="en-US" altLang="zh-CN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0.001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，只要</a:t>
            </a:r>
            <a:r>
              <a:rPr lang="en-US" altLang="zh-CN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n&gt;1000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时，就能做到；</a:t>
            </a:r>
            <a:endParaRPr lang="en-US" altLang="zh-CN" sz="18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704955"/>
              </p:ext>
            </p:extLst>
          </p:nvPr>
        </p:nvGraphicFramePr>
        <p:xfrm>
          <a:off x="1268264" y="1911045"/>
          <a:ext cx="279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Equation" r:id="rId5" imgW="279400" imgH="330200" progId="Equation.DSMT4">
                  <p:embed/>
                </p:oleObj>
              </mc:Choice>
              <mc:Fallback>
                <p:oleObj name="Equation" r:id="rId5" imgW="2794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264" y="1911045"/>
                        <a:ext cx="279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/>
        </p:nvSpPr>
        <p:spPr>
          <a:xfrm>
            <a:off x="755576" y="2715766"/>
            <a:ext cx="1141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………….</a:t>
            </a:r>
            <a:endParaRPr lang="zh-CN" altLang="en-US" sz="18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7584" y="3210530"/>
            <a:ext cx="49685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对于任意给定的正数 </a:t>
            </a:r>
            <a:r>
              <a:rPr lang="zh-CN" alt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1800" i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  <a:sym typeface="Symbol"/>
              </a:rPr>
              <a:t></a:t>
            </a:r>
            <a:r>
              <a:rPr lang="zh-CN" altLang="en-US" sz="1800" i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不论它多么小</a:t>
            </a:r>
            <a:r>
              <a:rPr lang="en-US" altLang="zh-CN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zh-CN" alt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，只要</a:t>
            </a:r>
            <a:endParaRPr lang="zh-CN" alt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9467041"/>
              </p:ext>
            </p:extLst>
          </p:nvPr>
        </p:nvGraphicFramePr>
        <p:xfrm>
          <a:off x="497632" y="3677642"/>
          <a:ext cx="7620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4" name="Equation" r:id="rId6" imgW="761760" imgH="622080" progId="Equation.DSMT4">
                  <p:embed/>
                </p:oleObj>
              </mc:Choice>
              <mc:Fallback>
                <p:oleObj name="Equation" r:id="rId6" imgW="761760" imgH="622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7632" y="3677642"/>
                        <a:ext cx="762000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/>
          <p:nvPr/>
        </p:nvSpPr>
        <p:spPr>
          <a:xfrm>
            <a:off x="1246095" y="3843386"/>
            <a:ext cx="16257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时，就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能做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350328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5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6"/>
          <p:cNvSpPr>
            <a:spLocks noChangeArrowheads="1"/>
          </p:cNvSpPr>
          <p:nvPr/>
        </p:nvSpPr>
        <p:spPr bwMode="auto">
          <a:xfrm>
            <a:off x="3337429" y="-230832"/>
            <a:ext cx="1847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467544" y="771550"/>
            <a:ext cx="5544616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这就是“当</a:t>
            </a:r>
            <a:r>
              <a:rPr lang="en-US" altLang="zh-CN" sz="1800" i="1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18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无限增大时，</a:t>
            </a:r>
            <a:r>
              <a:rPr lang="en-US" altLang="zh-CN" sz="1800" i="1" dirty="0" err="1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</a:t>
            </a:r>
            <a:r>
              <a:rPr lang="en-US" altLang="zh-CN" sz="1800" i="1" baseline="-25000" dirty="0" err="1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18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无限地接近于</a:t>
            </a:r>
            <a:r>
              <a:rPr lang="en-US" altLang="zh-CN" sz="18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1”</a:t>
            </a:r>
            <a:r>
              <a:rPr lang="zh-CN" altLang="en-US" sz="18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的实质和精确的数学描述。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48" y="1635646"/>
            <a:ext cx="5724128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</a:rPr>
              <a:t>定义  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设        是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一给定数列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800" i="1" dirty="0" smtClean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 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一实常数。如果对于</a:t>
            </a:r>
            <a:r>
              <a:rPr lang="zh-CN" altLang="en-US" sz="1800" dirty="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</a:rPr>
              <a:t>任意给定的正</a:t>
            </a:r>
            <a:r>
              <a:rPr lang="zh-CN" altLang="en-US" sz="1800" dirty="0" smtClean="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</a:rPr>
              <a:t>数 </a:t>
            </a:r>
            <a:r>
              <a:rPr lang="zh-CN" altLang="en-US" sz="1800" i="1" dirty="0" smtClean="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  <a:sym typeface="Symbol"/>
              </a:rPr>
              <a:t></a:t>
            </a:r>
            <a:r>
              <a:rPr lang="zh-CN" altLang="en-US" sz="1800" i="1" dirty="0" smtClean="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800" dirty="0" smtClean="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无论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它多么小</a:t>
            </a: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，总可以找到</a:t>
            </a:r>
            <a:r>
              <a:rPr lang="zh-CN" altLang="en-US" sz="1800" dirty="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</a:rPr>
              <a:t>自然</a:t>
            </a:r>
            <a:r>
              <a:rPr lang="zh-CN" altLang="en-US" sz="1800" dirty="0" smtClean="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</a:rPr>
              <a:t>数</a:t>
            </a:r>
            <a:r>
              <a:rPr lang="en-US" altLang="zh-CN" sz="1800" i="1" dirty="0" smtClean="0">
                <a:solidFill>
                  <a:srgbClr val="FF99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使得对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于           时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的一切 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   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不等式</a:t>
            </a:r>
            <a:r>
              <a:rPr lang="zh-CN" altLang="en-US" sz="1800" dirty="0" smtClean="0"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1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7544" y="3435846"/>
            <a:ext cx="56886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都成立，那么就称常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数 </a:t>
            </a:r>
            <a:r>
              <a:rPr lang="en-US" altLang="zh-CN" sz="1800" i="1" dirty="0" smtClean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 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是数列        的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极限，或者称数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列  </a:t>
            </a:r>
            <a:r>
              <a:rPr lang="en-US" altLang="zh-CN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收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敛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于 </a:t>
            </a:r>
            <a:r>
              <a:rPr lang="en-US" altLang="zh-CN" sz="1800" i="1" dirty="0" smtClean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记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为</a:t>
            </a:r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932812"/>
              </p:ext>
            </p:extLst>
          </p:nvPr>
        </p:nvGraphicFramePr>
        <p:xfrm>
          <a:off x="1331640" y="1779662"/>
          <a:ext cx="482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6" name="Equation" r:id="rId3" imgW="482400" imgH="330120" progId="Equation.DSMT4">
                  <p:embed/>
                </p:oleObj>
              </mc:Choice>
              <mc:Fallback>
                <p:oleObj name="Equation" r:id="rId3" imgW="4824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640" y="1779662"/>
                        <a:ext cx="4826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5301991"/>
              </p:ext>
            </p:extLst>
          </p:nvPr>
        </p:nvGraphicFramePr>
        <p:xfrm>
          <a:off x="1763688" y="2595500"/>
          <a:ext cx="673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7" name="Equation" r:id="rId5" imgW="672840" imgH="241200" progId="Equation.DSMT4">
                  <p:embed/>
                </p:oleObj>
              </mc:Choice>
              <mc:Fallback>
                <p:oleObj name="Equation" r:id="rId5" imgW="6728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63688" y="2595500"/>
                        <a:ext cx="673100" cy="241300"/>
                      </a:xfrm>
                      <a:prstGeom prst="rect">
                        <a:avLst/>
                      </a:prstGeom>
                      <a:solidFill>
                        <a:srgbClr val="CC66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452634"/>
              </p:ext>
            </p:extLst>
          </p:nvPr>
        </p:nvGraphicFramePr>
        <p:xfrm>
          <a:off x="3419872" y="2571750"/>
          <a:ext cx="279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" name="Equation" r:id="rId7" imgW="279360" imgH="330120" progId="Equation.DSMT4">
                  <p:embed/>
                </p:oleObj>
              </mc:Choice>
              <mc:Fallback>
                <p:oleObj name="Equation" r:id="rId7" imgW="2793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19872" y="2571750"/>
                        <a:ext cx="2794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0738550"/>
              </p:ext>
            </p:extLst>
          </p:nvPr>
        </p:nvGraphicFramePr>
        <p:xfrm>
          <a:off x="1619672" y="3003798"/>
          <a:ext cx="1143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9" name="Equation" r:id="rId9" imgW="1143000" imgH="380880" progId="Equation.DSMT4">
                  <p:embed/>
                </p:oleObj>
              </mc:Choice>
              <mc:Fallback>
                <p:oleObj name="Equation" r:id="rId9" imgW="11430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19672" y="3003798"/>
                        <a:ext cx="1143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806669"/>
              </p:ext>
            </p:extLst>
          </p:nvPr>
        </p:nvGraphicFramePr>
        <p:xfrm>
          <a:off x="3752352" y="3579862"/>
          <a:ext cx="482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" name="Equation" r:id="rId11" imgW="482400" imgH="330120" progId="Equation.DSMT4">
                  <p:embed/>
                </p:oleObj>
              </mc:Choice>
              <mc:Fallback>
                <p:oleObj name="Equation" r:id="rId11" imgW="4824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2352" y="3579862"/>
                        <a:ext cx="482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4514446"/>
              </p:ext>
            </p:extLst>
          </p:nvPr>
        </p:nvGraphicFramePr>
        <p:xfrm>
          <a:off x="1028681" y="3969742"/>
          <a:ext cx="482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Equation" r:id="rId13" imgW="482400" imgH="330120" progId="Equation.DSMT4">
                  <p:embed/>
                </p:oleObj>
              </mc:Choice>
              <mc:Fallback>
                <p:oleObj name="Equation" r:id="rId13" imgW="4824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681" y="3969742"/>
                        <a:ext cx="482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0280642"/>
              </p:ext>
            </p:extLst>
          </p:nvPr>
        </p:nvGraphicFramePr>
        <p:xfrm>
          <a:off x="1547664" y="4371950"/>
          <a:ext cx="1079500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2" name="Equation" r:id="rId14" imgW="1079280" imgH="406080" progId="Equation.DSMT4">
                  <p:embed/>
                </p:oleObj>
              </mc:Choice>
              <mc:Fallback>
                <p:oleObj name="Equation" r:id="rId14" imgW="1079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371950"/>
                        <a:ext cx="1079500" cy="401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29"/>
          <p:cNvSpPr/>
          <p:nvPr/>
        </p:nvSpPr>
        <p:spPr>
          <a:xfrm>
            <a:off x="2699792" y="4362658"/>
            <a:ext cx="417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00" dirty="0" smtClean="0">
                <a:solidFill>
                  <a:schemeClr val="tx1"/>
                </a:solidFill>
              </a:rPr>
              <a:t>或</a:t>
            </a:r>
            <a:endParaRPr lang="zh-CN" altLang="en-US" sz="1800" dirty="0">
              <a:solidFill>
                <a:schemeClr val="tx1"/>
              </a:solidFill>
            </a:endParaRPr>
          </a:p>
        </p:txBody>
      </p:sp>
      <p:graphicFrame>
        <p:nvGraphicFramePr>
          <p:cNvPr id="3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109223"/>
              </p:ext>
            </p:extLst>
          </p:nvPr>
        </p:nvGraphicFramePr>
        <p:xfrm>
          <a:off x="3238748" y="4395700"/>
          <a:ext cx="176530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3" name="Equation" r:id="rId16" imgW="1765080" imgH="330120" progId="Equation.DSMT4">
                  <p:embed/>
                </p:oleObj>
              </mc:Choice>
              <mc:Fallback>
                <p:oleObj name="Equation" r:id="rId16" imgW="17650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748" y="4395700"/>
                        <a:ext cx="1765300" cy="32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966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168470"/>
              </p:ext>
            </p:extLst>
          </p:nvPr>
        </p:nvGraphicFramePr>
        <p:xfrm>
          <a:off x="1907704" y="1902718"/>
          <a:ext cx="1143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3" imgW="1143000" imgH="380880" progId="Equation.DSMT4">
                  <p:embed/>
                </p:oleObj>
              </mc:Choice>
              <mc:Fallback>
                <p:oleObj name="Equation" r:id="rId3" imgW="11430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704" y="1902718"/>
                        <a:ext cx="1143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4137703"/>
              </p:ext>
            </p:extLst>
          </p:nvPr>
        </p:nvGraphicFramePr>
        <p:xfrm>
          <a:off x="395536" y="1414408"/>
          <a:ext cx="1079500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Equation" r:id="rId5" imgW="1079280" imgH="406080" progId="Equation.DSMT4">
                  <p:embed/>
                </p:oleObj>
              </mc:Choice>
              <mc:Fallback>
                <p:oleObj name="Equation" r:id="rId5" imgW="1079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414408"/>
                        <a:ext cx="1079500" cy="401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1943602" y="1320754"/>
            <a:ext cx="4419470" cy="458908"/>
            <a:chOff x="683568" y="1155340"/>
            <a:chExt cx="4419470" cy="458908"/>
          </a:xfrm>
        </p:grpSpPr>
        <p:sp>
          <p:nvSpPr>
            <p:cNvPr id="5" name="Rectangle 4"/>
            <p:cNvSpPr/>
            <p:nvPr/>
          </p:nvSpPr>
          <p:spPr>
            <a:xfrm>
              <a:off x="3779912" y="1155340"/>
              <a:ext cx="1323126" cy="4589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lang="zh-CN" altLang="en-US" sz="18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时</a:t>
              </a:r>
              <a:endParaRPr lang="zh-CN" altLang="en-US" sz="1800" dirty="0">
                <a:latin typeface="微软雅黑" pitchFamily="34" charset="-122"/>
                <a:ea typeface="微软雅黑" pitchFamily="34" charset="-122"/>
              </a:endParaRPr>
            </a:p>
          </p:txBody>
        </p:sp>
        <p:graphicFrame>
          <p:nvGraphicFramePr>
            <p:cNvPr id="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32959880"/>
                </p:ext>
              </p:extLst>
            </p:nvPr>
          </p:nvGraphicFramePr>
          <p:xfrm>
            <a:off x="3250828" y="1290137"/>
            <a:ext cx="6731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6" name="Equation" r:id="rId7" imgW="672840" imgH="241200" progId="Equation.DSMT4">
                    <p:embed/>
                  </p:oleObj>
                </mc:Choice>
                <mc:Fallback>
                  <p:oleObj name="Equation" r:id="rId7" imgW="67284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250828" y="1290137"/>
                          <a:ext cx="6731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4603139"/>
                </p:ext>
              </p:extLst>
            </p:nvPr>
          </p:nvGraphicFramePr>
          <p:xfrm>
            <a:off x="683568" y="1275606"/>
            <a:ext cx="10414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17" name="Equation" r:id="rId9" imgW="1041120" imgH="279360" progId="Equation.DSMT4">
                    <p:embed/>
                  </p:oleObj>
                </mc:Choice>
                <mc:Fallback>
                  <p:oleObj name="Equation" r:id="rId9" imgW="104112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83568" y="1275606"/>
                          <a:ext cx="10414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7"/>
            <p:cNvSpPr/>
            <p:nvPr/>
          </p:nvSpPr>
          <p:spPr>
            <a:xfrm>
              <a:off x="1755174" y="1197730"/>
              <a:ext cx="155668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8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正数 </a:t>
              </a:r>
              <a:r>
                <a:rPr lang="en-US" altLang="zh-CN" sz="1800" i="1" dirty="0" smtClean="0">
                  <a:solidFill>
                    <a:schemeClr val="tx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N</a:t>
              </a:r>
              <a:r>
                <a:rPr lang="zh-CN" altLang="en-US" sz="18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en-US" altLang="zh-CN" sz="18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,</a:t>
              </a:r>
              <a:r>
                <a:rPr lang="zh-CN" altLang="en-US" sz="18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  当</a:t>
              </a:r>
              <a:endParaRPr lang="zh-CN" altLang="en-US" sz="18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079669"/>
              </p:ext>
            </p:extLst>
          </p:nvPr>
        </p:nvGraphicFramePr>
        <p:xfrm>
          <a:off x="1535803" y="1491630"/>
          <a:ext cx="3175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Equation" r:id="rId11" imgW="317160" imgH="190440" progId="Equation.DSMT4">
                  <p:embed/>
                </p:oleObj>
              </mc:Choice>
              <mc:Fallback>
                <p:oleObj name="Equation" r:id="rId11" imgW="31716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35803" y="1491630"/>
                        <a:ext cx="3175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323235" y="859089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上述定义简写为</a:t>
            </a:r>
            <a:endParaRPr lang="zh-CN" altLang="en-US" sz="18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3528" y="2418442"/>
            <a:ext cx="42484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如果</a:t>
            </a:r>
            <a:r>
              <a:rPr lang="zh-CN" altLang="zh-CN" sz="1800" dirty="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</a:rPr>
              <a:t>数列没有极限</a:t>
            </a:r>
            <a:r>
              <a:rPr lang="zh-CN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，就说数列是</a:t>
            </a:r>
            <a:r>
              <a:rPr lang="zh-CN" altLang="zh-CN" sz="1800" dirty="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</a:rPr>
              <a:t>发散</a:t>
            </a:r>
            <a:r>
              <a:rPr lang="zh-CN" altLang="zh-CN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endParaRPr lang="zh-CN" altLang="en-US" sz="18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4426" y="2859782"/>
            <a:ext cx="5749742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FF9900"/>
                </a:solidFill>
                <a:latin typeface="微软雅黑" pitchFamily="34" charset="-122"/>
                <a:ea typeface="微软雅黑" pitchFamily="34" charset="-122"/>
              </a:rPr>
              <a:t>注意</a:t>
            </a:r>
            <a:r>
              <a:rPr lang="zh-CN" altLang="en-US" sz="1800" dirty="0">
                <a:latin typeface="微软雅黑" pitchFamily="34" charset="-122"/>
                <a:ea typeface="微软雅黑" pitchFamily="34" charset="-122"/>
              </a:rPr>
              <a:t>　</a:t>
            </a:r>
            <a:endParaRPr lang="en-US" altLang="zh-CN" sz="1800" dirty="0" smtClean="0"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(1)  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极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限定义中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 </a:t>
            </a:r>
            <a:r>
              <a:rPr lang="en-US" altLang="zh-CN" sz="1800" i="1" dirty="0" smtClean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 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zh-CN" altLang="en-US" sz="1800" i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Symbol"/>
              </a:rPr>
              <a:t>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有关，但 并不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是 </a:t>
            </a:r>
            <a:r>
              <a:rPr lang="zh-CN" altLang="en-US" sz="1800" i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Symbol"/>
              </a:rPr>
              <a:t> 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函数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；  </a:t>
            </a:r>
            <a:endParaRPr lang="en-US" altLang="zh-CN" sz="18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(2)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不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一定找最小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endParaRPr lang="zh-CN" altLang="en-US" sz="18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3100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843558"/>
            <a:ext cx="1242922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几何意义：</a:t>
            </a:r>
            <a:endParaRPr lang="zh-CN" altLang="en-US" sz="18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95536" y="3009514"/>
            <a:ext cx="5405438" cy="1074404"/>
            <a:chOff x="395536" y="2211710"/>
            <a:chExt cx="5405438" cy="1074404"/>
          </a:xfrm>
        </p:grpSpPr>
        <p:graphicFrame>
          <p:nvGraphicFramePr>
            <p:cNvPr id="4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0346762"/>
                </p:ext>
              </p:extLst>
            </p:nvPr>
          </p:nvGraphicFramePr>
          <p:xfrm>
            <a:off x="2422269" y="2560133"/>
            <a:ext cx="5461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38" name="Equation" r:id="rId3" imgW="545760" imgH="190440" progId="Equation.DSMT4">
                    <p:embed/>
                  </p:oleObj>
                </mc:Choice>
                <mc:Fallback>
                  <p:oleObj name="Equation" r:id="rId3" imgW="54576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2269" y="2560133"/>
                          <a:ext cx="5461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" name="Group 34"/>
            <p:cNvGrpSpPr>
              <a:grpSpLocks/>
            </p:cNvGrpSpPr>
            <p:nvPr/>
          </p:nvGrpSpPr>
          <p:grpSpPr bwMode="auto">
            <a:xfrm>
              <a:off x="395536" y="2906638"/>
              <a:ext cx="5405438" cy="287338"/>
              <a:chOff x="1278" y="1296"/>
              <a:chExt cx="3405" cy="181"/>
            </a:xfrm>
          </p:grpSpPr>
          <p:sp>
            <p:nvSpPr>
              <p:cNvPr id="30" name="Line 29"/>
              <p:cNvSpPr>
                <a:spLocks noChangeShapeType="1"/>
              </p:cNvSpPr>
              <p:nvPr/>
            </p:nvSpPr>
            <p:spPr bwMode="auto">
              <a:xfrm>
                <a:off x="1278" y="1296"/>
                <a:ext cx="336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graphicFrame>
            <p:nvGraphicFramePr>
              <p:cNvPr id="31" name="Object 3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67759498"/>
                  </p:ext>
                </p:extLst>
              </p:nvPr>
            </p:nvGraphicFramePr>
            <p:xfrm>
              <a:off x="4544" y="1344"/>
              <a:ext cx="139" cy="1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39" name="公式" r:id="rId5" imgW="266400" imgH="253800" progId="Equation.3">
                      <p:embed/>
                    </p:oleObj>
                  </mc:Choice>
                  <mc:Fallback>
                    <p:oleObj name="公式" r:id="rId5" imgW="266400" imgH="2538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lum bright="10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44" y="1344"/>
                            <a:ext cx="139" cy="1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3372180" y="2868538"/>
              <a:ext cx="76200" cy="762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Oval 8"/>
            <p:cNvSpPr>
              <a:spLocks noChangeArrowheads="1"/>
            </p:cNvSpPr>
            <p:nvPr/>
          </p:nvSpPr>
          <p:spPr bwMode="auto">
            <a:xfrm>
              <a:off x="2485480" y="2868538"/>
              <a:ext cx="76200" cy="762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Oval 9"/>
            <p:cNvSpPr>
              <a:spLocks noChangeArrowheads="1"/>
            </p:cNvSpPr>
            <p:nvPr/>
          </p:nvSpPr>
          <p:spPr bwMode="auto">
            <a:xfrm>
              <a:off x="2866480" y="2868538"/>
              <a:ext cx="76200" cy="762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Oval 11"/>
            <p:cNvSpPr>
              <a:spLocks noChangeArrowheads="1"/>
            </p:cNvSpPr>
            <p:nvPr/>
          </p:nvSpPr>
          <p:spPr bwMode="auto">
            <a:xfrm>
              <a:off x="3464205" y="2856663"/>
              <a:ext cx="76200" cy="762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Oval 2"/>
            <p:cNvSpPr>
              <a:spLocks noChangeArrowheads="1"/>
            </p:cNvSpPr>
            <p:nvPr/>
          </p:nvSpPr>
          <p:spPr bwMode="auto">
            <a:xfrm>
              <a:off x="1571080" y="2868538"/>
              <a:ext cx="76200" cy="762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3903205"/>
                </p:ext>
              </p:extLst>
            </p:nvPr>
          </p:nvGraphicFramePr>
          <p:xfrm>
            <a:off x="1475830" y="2906638"/>
            <a:ext cx="305672" cy="3794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0" name="公式" r:id="rId7" imgW="368280" imgH="457200" progId="Equation.3">
                    <p:embed/>
                  </p:oleObj>
                </mc:Choice>
                <mc:Fallback>
                  <p:oleObj name="公式" r:id="rId7" imgW="36828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5830" y="2906638"/>
                          <a:ext cx="305672" cy="3794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Oval 3"/>
            <p:cNvSpPr>
              <a:spLocks noChangeArrowheads="1"/>
            </p:cNvSpPr>
            <p:nvPr/>
          </p:nvSpPr>
          <p:spPr bwMode="auto">
            <a:xfrm>
              <a:off x="1037686" y="2868538"/>
              <a:ext cx="76200" cy="762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graphicFrame>
          <p:nvGraphicFramePr>
            <p:cNvPr id="13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277480"/>
                </p:ext>
              </p:extLst>
            </p:nvPr>
          </p:nvGraphicFramePr>
          <p:xfrm>
            <a:off x="950373" y="2906638"/>
            <a:ext cx="326588" cy="3794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1" name="Equation" r:id="rId9" imgW="393480" imgH="457200" progId="Equation.3">
                    <p:embed/>
                  </p:oleObj>
                </mc:Choice>
                <mc:Fallback>
                  <p:oleObj name="Equation" r:id="rId9" imgW="39348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0373" y="2906638"/>
                          <a:ext cx="326588" cy="3794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2523625"/>
                </p:ext>
              </p:extLst>
            </p:nvPr>
          </p:nvGraphicFramePr>
          <p:xfrm>
            <a:off x="3434531" y="2906638"/>
            <a:ext cx="632261" cy="3794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2" name="公式" r:id="rId11" imgW="761760" imgH="457200" progId="Equation.3">
                    <p:embed/>
                  </p:oleObj>
                </mc:Choice>
                <mc:Fallback>
                  <p:oleObj name="公式" r:id="rId11" imgW="76176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4531" y="2906638"/>
                          <a:ext cx="632261" cy="3794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Oval 7"/>
            <p:cNvSpPr>
              <a:spLocks noChangeArrowheads="1"/>
            </p:cNvSpPr>
            <p:nvPr/>
          </p:nvSpPr>
          <p:spPr bwMode="auto">
            <a:xfrm>
              <a:off x="2333080" y="2868538"/>
              <a:ext cx="76200" cy="762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graphicFrame>
          <p:nvGraphicFramePr>
            <p:cNvPr id="16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1579062"/>
                </p:ext>
              </p:extLst>
            </p:nvPr>
          </p:nvGraphicFramePr>
          <p:xfrm>
            <a:off x="2639400" y="2871796"/>
            <a:ext cx="611188" cy="379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3" name="Equation" r:id="rId13" imgW="736560" imgH="457200" progId="Equation.3">
                    <p:embed/>
                  </p:oleObj>
                </mc:Choice>
                <mc:Fallback>
                  <p:oleObj name="Equation" r:id="rId13" imgW="736560" imgH="45720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9400" y="2871796"/>
                          <a:ext cx="611188" cy="379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5133096"/>
                </p:ext>
              </p:extLst>
            </p:nvPr>
          </p:nvGraphicFramePr>
          <p:xfrm>
            <a:off x="5000080" y="2906638"/>
            <a:ext cx="326588" cy="3794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4" name="Equation" r:id="rId15" imgW="393480" imgH="457200" progId="Equation.3">
                    <p:embed/>
                  </p:oleObj>
                </mc:Choice>
                <mc:Fallback>
                  <p:oleObj name="Equation" r:id="rId15" imgW="39348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lum bright="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0080" y="2906638"/>
                          <a:ext cx="326588" cy="3794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Oval 17"/>
            <p:cNvSpPr>
              <a:spLocks noChangeArrowheads="1"/>
            </p:cNvSpPr>
            <p:nvPr/>
          </p:nvSpPr>
          <p:spPr bwMode="auto">
            <a:xfrm>
              <a:off x="5152480" y="2868538"/>
              <a:ext cx="76200" cy="762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Oval 19"/>
            <p:cNvSpPr>
              <a:spLocks noChangeArrowheads="1"/>
            </p:cNvSpPr>
            <p:nvPr/>
          </p:nvSpPr>
          <p:spPr bwMode="auto">
            <a:xfrm>
              <a:off x="4009480" y="2868538"/>
              <a:ext cx="76200" cy="762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Oval 20"/>
            <p:cNvSpPr>
              <a:spLocks noChangeArrowheads="1"/>
            </p:cNvSpPr>
            <p:nvPr/>
          </p:nvSpPr>
          <p:spPr bwMode="auto">
            <a:xfrm>
              <a:off x="2714080" y="2868538"/>
              <a:ext cx="76200" cy="762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Oval 21"/>
            <p:cNvSpPr>
              <a:spLocks noChangeArrowheads="1"/>
            </p:cNvSpPr>
            <p:nvPr/>
          </p:nvSpPr>
          <p:spPr bwMode="auto">
            <a:xfrm>
              <a:off x="4238080" y="2868538"/>
              <a:ext cx="76200" cy="762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Oval 22"/>
            <p:cNvSpPr>
              <a:spLocks noChangeArrowheads="1"/>
            </p:cNvSpPr>
            <p:nvPr/>
          </p:nvSpPr>
          <p:spPr bwMode="auto">
            <a:xfrm>
              <a:off x="3095080" y="2868538"/>
              <a:ext cx="76200" cy="7620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AutoShape 23"/>
            <p:cNvSpPr>
              <a:spLocks/>
            </p:cNvSpPr>
            <p:nvPr/>
          </p:nvSpPr>
          <p:spPr bwMode="auto">
            <a:xfrm rot="5400000">
              <a:off x="3230284" y="2256179"/>
              <a:ext cx="205172" cy="990600"/>
            </a:xfrm>
            <a:prstGeom prst="leftBrace">
              <a:avLst>
                <a:gd name="adj1" fmla="val 62037"/>
                <a:gd name="adj2" fmla="val 50000"/>
              </a:avLst>
            </a:prstGeom>
            <a:noFill/>
            <a:ln w="25400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Oval 10"/>
            <p:cNvSpPr>
              <a:spLocks noChangeArrowheads="1"/>
            </p:cNvSpPr>
            <p:nvPr/>
          </p:nvSpPr>
          <p:spPr bwMode="auto">
            <a:xfrm>
              <a:off x="2799087" y="2859782"/>
              <a:ext cx="76200" cy="7620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graphicFrame>
          <p:nvGraphicFramePr>
            <p:cNvPr id="25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0713575"/>
                </p:ext>
              </p:extLst>
            </p:nvPr>
          </p:nvGraphicFramePr>
          <p:xfrm>
            <a:off x="3732815" y="2535558"/>
            <a:ext cx="5461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5" name="Equation" r:id="rId17" imgW="545760" imgH="203040" progId="Equation.DSMT4">
                    <p:embed/>
                  </p:oleObj>
                </mc:Choice>
                <mc:Fallback>
                  <p:oleObj name="Equation" r:id="rId17" imgW="54576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732815" y="2535558"/>
                          <a:ext cx="5461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Oval 10"/>
            <p:cNvSpPr>
              <a:spLocks noChangeArrowheads="1"/>
            </p:cNvSpPr>
            <p:nvPr/>
          </p:nvSpPr>
          <p:spPr bwMode="auto">
            <a:xfrm>
              <a:off x="3812000" y="2861298"/>
              <a:ext cx="76200" cy="7620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Oval 10"/>
            <p:cNvSpPr>
              <a:spLocks noChangeArrowheads="1"/>
            </p:cNvSpPr>
            <p:nvPr/>
          </p:nvSpPr>
          <p:spPr bwMode="auto">
            <a:xfrm>
              <a:off x="3271664" y="2859782"/>
              <a:ext cx="76200" cy="7620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graphicFrame>
          <p:nvGraphicFramePr>
            <p:cNvPr id="28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2574536"/>
                </p:ext>
              </p:extLst>
            </p:nvPr>
          </p:nvGraphicFramePr>
          <p:xfrm>
            <a:off x="3220864" y="3003798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6" name="Equation" r:id="rId19" imgW="177480" imgH="190440" progId="Equation.DSMT4">
                    <p:embed/>
                  </p:oleObj>
                </mc:Choice>
                <mc:Fallback>
                  <p:oleObj name="Equation" r:id="rId19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220864" y="3003798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1627222"/>
                </p:ext>
              </p:extLst>
            </p:nvPr>
          </p:nvGraphicFramePr>
          <p:xfrm>
            <a:off x="3209204" y="2211710"/>
            <a:ext cx="317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7" name="Equation" r:id="rId21" imgW="317160" imgH="241200" progId="Equation.DSMT4">
                    <p:embed/>
                  </p:oleObj>
                </mc:Choice>
                <mc:Fallback>
                  <p:oleObj name="Equation" r:id="rId21" imgW="31716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209204" y="2211710"/>
                          <a:ext cx="317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Group 31"/>
          <p:cNvGrpSpPr/>
          <p:nvPr/>
        </p:nvGrpSpPr>
        <p:grpSpPr>
          <a:xfrm>
            <a:off x="323528" y="1448946"/>
            <a:ext cx="5728096" cy="1338828"/>
            <a:chOff x="428080" y="3531661"/>
            <a:chExt cx="5728096" cy="1338828"/>
          </a:xfrm>
        </p:grpSpPr>
        <p:sp>
          <p:nvSpPr>
            <p:cNvPr id="33" name="Rectangle 32"/>
            <p:cNvSpPr/>
            <p:nvPr/>
          </p:nvSpPr>
          <p:spPr>
            <a:xfrm>
              <a:off x="428080" y="3531661"/>
              <a:ext cx="5728096" cy="13388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800" dirty="0">
                  <a:solidFill>
                    <a:schemeClr val="tx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对</a:t>
              </a:r>
              <a:r>
                <a:rPr lang="zh-CN" altLang="en-US" sz="1800" dirty="0" smtClean="0">
                  <a:solidFill>
                    <a:schemeClr val="tx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于             时</a:t>
              </a:r>
              <a:r>
                <a:rPr lang="zh-CN" altLang="en-US" sz="1800" dirty="0">
                  <a:solidFill>
                    <a:schemeClr val="tx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的一</a:t>
              </a:r>
              <a:r>
                <a:rPr lang="zh-CN" altLang="en-US" sz="1800" dirty="0" smtClean="0">
                  <a:solidFill>
                    <a:schemeClr val="tx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切      </a:t>
              </a:r>
              <a:r>
                <a:rPr lang="en-US" altLang="zh-CN" sz="1800" dirty="0" smtClean="0">
                  <a:solidFill>
                    <a:schemeClr val="tx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,  </a:t>
              </a:r>
              <a:r>
                <a:rPr lang="zh-CN" altLang="en-US" sz="1800" dirty="0" smtClean="0">
                  <a:solidFill>
                    <a:schemeClr val="tx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不</a:t>
              </a:r>
              <a:r>
                <a:rPr lang="zh-CN" altLang="en-US" sz="1800" dirty="0">
                  <a:solidFill>
                    <a:schemeClr val="tx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等</a:t>
              </a:r>
              <a:r>
                <a:rPr lang="zh-CN" altLang="en-US" sz="1800" dirty="0" smtClean="0">
                  <a:solidFill>
                    <a:schemeClr val="tx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式                       都</a:t>
              </a:r>
              <a:r>
                <a:rPr lang="zh-CN" altLang="en-US" sz="1800" dirty="0">
                  <a:solidFill>
                    <a:schemeClr val="tx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成立”表示数</a:t>
              </a:r>
              <a:r>
                <a:rPr lang="zh-CN" altLang="en-US" sz="1800" dirty="0" smtClean="0">
                  <a:solidFill>
                    <a:schemeClr val="tx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列          中</a:t>
              </a:r>
              <a:r>
                <a:rPr lang="zh-CN" altLang="en-US" sz="1800" dirty="0">
                  <a:solidFill>
                    <a:schemeClr val="tx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从第 </a:t>
              </a:r>
              <a:r>
                <a:rPr lang="zh-CN" altLang="en-US" sz="1800" dirty="0" smtClean="0">
                  <a:solidFill>
                    <a:schemeClr val="tx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           项</a:t>
              </a:r>
              <a:r>
                <a:rPr lang="zh-CN" altLang="en-US" sz="1800" dirty="0">
                  <a:solidFill>
                    <a:schemeClr val="tx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开始所有的项都落</a:t>
              </a:r>
              <a:r>
                <a:rPr lang="zh-CN" altLang="en-US" sz="1800" dirty="0" smtClean="0">
                  <a:solidFill>
                    <a:schemeClr val="tx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在</a:t>
              </a:r>
              <a:endParaRPr lang="en-US" altLang="zh-CN" sz="1800" dirty="0" smtClean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                     </a:t>
              </a:r>
              <a:r>
                <a:rPr lang="zh-CN" altLang="en-US" sz="1800" dirty="0" smtClean="0">
                  <a:solidFill>
                    <a:schemeClr val="tx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中</a:t>
              </a:r>
              <a:r>
                <a:rPr lang="en-US" altLang="zh-CN" sz="1800" dirty="0" smtClean="0">
                  <a:solidFill>
                    <a:schemeClr val="tx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,  </a:t>
              </a:r>
              <a:r>
                <a:rPr lang="zh-CN" altLang="en-US" sz="1800" dirty="0" smtClean="0">
                  <a:solidFill>
                    <a:schemeClr val="tx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如图</a:t>
              </a:r>
              <a:r>
                <a:rPr lang="en-US" altLang="zh-CN" sz="1800" dirty="0" smtClean="0">
                  <a:solidFill>
                    <a:schemeClr val="tx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.</a:t>
              </a:r>
              <a:endParaRPr lang="zh-CN" altLang="en-US" sz="18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  <p:graphicFrame>
          <p:nvGraphicFramePr>
            <p:cNvPr id="34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9368723"/>
                </p:ext>
              </p:extLst>
            </p:nvPr>
          </p:nvGraphicFramePr>
          <p:xfrm>
            <a:off x="2636416" y="3646085"/>
            <a:ext cx="2794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8" name="Equation" r:id="rId23" imgW="279360" imgH="330120" progId="Equation.DSMT4">
                    <p:embed/>
                  </p:oleObj>
                </mc:Choice>
                <mc:Fallback>
                  <p:oleObj name="Equation" r:id="rId23" imgW="27936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6416" y="3646085"/>
                          <a:ext cx="2794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1406294"/>
                </p:ext>
              </p:extLst>
            </p:nvPr>
          </p:nvGraphicFramePr>
          <p:xfrm>
            <a:off x="971600" y="3698602"/>
            <a:ext cx="6731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9" name="Equation" r:id="rId25" imgW="672840" imgH="241200" progId="Equation.DSMT4">
                    <p:embed/>
                  </p:oleObj>
                </mc:Choice>
                <mc:Fallback>
                  <p:oleObj name="Equation" r:id="rId25" imgW="6728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1600" y="3698602"/>
                          <a:ext cx="6731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2021791"/>
                </p:ext>
              </p:extLst>
            </p:nvPr>
          </p:nvGraphicFramePr>
          <p:xfrm>
            <a:off x="3910537" y="3618277"/>
            <a:ext cx="1143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0" name="Equation" r:id="rId27" imgW="1143000" imgH="380880" progId="Equation.DSMT4">
                    <p:embed/>
                  </p:oleObj>
                </mc:Choice>
                <mc:Fallback>
                  <p:oleObj name="Equation" r:id="rId27" imgW="114300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0537" y="3618277"/>
                          <a:ext cx="11430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5175038"/>
                </p:ext>
              </p:extLst>
            </p:nvPr>
          </p:nvGraphicFramePr>
          <p:xfrm>
            <a:off x="1425104" y="4066258"/>
            <a:ext cx="4826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1" name="Equation" r:id="rId29" imgW="482400" imgH="330120" progId="Equation.DSMT4">
                    <p:embed/>
                  </p:oleObj>
                </mc:Choice>
                <mc:Fallback>
                  <p:oleObj name="Equation" r:id="rId29" imgW="48240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5104" y="4066258"/>
                          <a:ext cx="482600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9558983"/>
                </p:ext>
              </p:extLst>
            </p:nvPr>
          </p:nvGraphicFramePr>
          <p:xfrm>
            <a:off x="2738264" y="4107725"/>
            <a:ext cx="6096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2" name="Equation" r:id="rId31" imgW="609480" imgH="228600" progId="Equation.DSMT4">
                    <p:embed/>
                  </p:oleObj>
                </mc:Choice>
                <mc:Fallback>
                  <p:oleObj name="Equation" r:id="rId31" imgW="6094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2738264" y="4107725"/>
                          <a:ext cx="6096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0483430"/>
                </p:ext>
              </p:extLst>
            </p:nvPr>
          </p:nvGraphicFramePr>
          <p:xfrm>
            <a:off x="453486" y="4443958"/>
            <a:ext cx="13208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3" name="Equation" r:id="rId33" imgW="1320480" imgH="291960" progId="Equation.DSMT4">
                    <p:embed/>
                  </p:oleObj>
                </mc:Choice>
                <mc:Fallback>
                  <p:oleObj name="Equation" r:id="rId33" imgW="132048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453486" y="4443958"/>
                          <a:ext cx="13208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" name="Oval 17"/>
          <p:cNvSpPr>
            <a:spLocks noChangeArrowheads="1"/>
          </p:cNvSpPr>
          <p:nvPr/>
        </p:nvSpPr>
        <p:spPr bwMode="auto">
          <a:xfrm>
            <a:off x="3179264" y="3662369"/>
            <a:ext cx="76200" cy="76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Oval 17"/>
          <p:cNvSpPr>
            <a:spLocks noChangeArrowheads="1"/>
          </p:cNvSpPr>
          <p:nvPr/>
        </p:nvSpPr>
        <p:spPr bwMode="auto">
          <a:xfrm>
            <a:off x="3029992" y="3664844"/>
            <a:ext cx="76200" cy="76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Oval 17"/>
          <p:cNvSpPr>
            <a:spLocks noChangeArrowheads="1"/>
          </p:cNvSpPr>
          <p:nvPr/>
        </p:nvSpPr>
        <p:spPr bwMode="auto">
          <a:xfrm>
            <a:off x="3530505" y="3662865"/>
            <a:ext cx="76200" cy="76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Oval 17"/>
          <p:cNvSpPr>
            <a:spLocks noChangeArrowheads="1"/>
          </p:cNvSpPr>
          <p:nvPr/>
        </p:nvSpPr>
        <p:spPr bwMode="auto">
          <a:xfrm>
            <a:off x="3628480" y="3666342"/>
            <a:ext cx="76200" cy="76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78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89520" y="983611"/>
            <a:ext cx="990600" cy="364003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 dirty="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zh-CN" altLang="en-US" sz="18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8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8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</a:rPr>
              <a:t>已知</a:t>
            </a:r>
            <a:endParaRPr lang="zh-CN" altLang="en-US" sz="1800" b="1" dirty="0">
              <a:solidFill>
                <a:schemeClr val="tx1"/>
              </a:solidFill>
              <a:effectLst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131840" y="978282"/>
            <a:ext cx="289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证明数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列        的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极限为</a:t>
            </a: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endParaRPr lang="zh-CN" altLang="en-US" sz="18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4769420" y="1250870"/>
            <a:ext cx="2514600" cy="271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  </a:t>
            </a:r>
            <a:endParaRPr lang="en-US" altLang="zh-CN" sz="18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67544" y="1664866"/>
            <a:ext cx="647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证明</a:t>
            </a:r>
            <a:endParaRPr lang="en-US" altLang="zh-CN" sz="18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569990"/>
              </p:ext>
            </p:extLst>
          </p:nvPr>
        </p:nvGraphicFramePr>
        <p:xfrm>
          <a:off x="1444625" y="771525"/>
          <a:ext cx="15875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1587240" imgH="647640" progId="Equation.DSMT4">
                  <p:embed/>
                </p:oleObj>
              </mc:Choice>
              <mc:Fallback>
                <p:oleObj name="Equation" r:id="rId3" imgW="1587240" imgH="647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4625" y="771525"/>
                        <a:ext cx="15875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1321209"/>
              </p:ext>
            </p:extLst>
          </p:nvPr>
        </p:nvGraphicFramePr>
        <p:xfrm>
          <a:off x="4139952" y="1017414"/>
          <a:ext cx="482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5" imgW="482400" imgH="330120" progId="Equation.DSMT4">
                  <p:embed/>
                </p:oleObj>
              </mc:Choice>
              <mc:Fallback>
                <p:oleObj name="Equation" r:id="rId5" imgW="4824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1017414"/>
                        <a:ext cx="482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743913"/>
              </p:ext>
            </p:extLst>
          </p:nvPr>
        </p:nvGraphicFramePr>
        <p:xfrm>
          <a:off x="1331640" y="1491630"/>
          <a:ext cx="27813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7" imgW="2781000" imgH="749160" progId="Equation.DSMT4">
                  <p:embed/>
                </p:oleObj>
              </mc:Choice>
              <mc:Fallback>
                <p:oleObj name="Equation" r:id="rId7" imgW="2781000" imgH="749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1491630"/>
                        <a:ext cx="27813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578420" y="2375654"/>
            <a:ext cx="2662908" cy="402167"/>
            <a:chOff x="578420" y="2375654"/>
            <a:chExt cx="2662908" cy="402167"/>
          </a:xfrm>
        </p:grpSpPr>
        <p:sp>
          <p:nvSpPr>
            <p:cNvPr id="10" name="Text Box 15"/>
            <p:cNvSpPr txBox="1">
              <a:spLocks noChangeArrowheads="1"/>
            </p:cNvSpPr>
            <p:nvPr/>
          </p:nvSpPr>
          <p:spPr bwMode="auto">
            <a:xfrm>
              <a:off x="1451612" y="2375654"/>
              <a:ext cx="714308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18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要使</a:t>
              </a:r>
              <a:endPara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aphicFrame>
          <p:nvGraphicFramePr>
            <p:cNvPr id="11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8556321"/>
                </p:ext>
              </p:extLst>
            </p:nvPr>
          </p:nvGraphicFramePr>
          <p:xfrm>
            <a:off x="578420" y="2441836"/>
            <a:ext cx="812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5" name="Equation" r:id="rId9" imgW="812520" imgH="279360" progId="Equation.DSMT4">
                    <p:embed/>
                  </p:oleObj>
                </mc:Choice>
                <mc:Fallback>
                  <p:oleObj name="Equation" r:id="rId9" imgW="81252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78420" y="2441836"/>
                          <a:ext cx="8128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6636605"/>
                </p:ext>
              </p:extLst>
            </p:nvPr>
          </p:nvGraphicFramePr>
          <p:xfrm>
            <a:off x="2123728" y="2396821"/>
            <a:ext cx="1117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6" name="Equation" r:id="rId11" imgW="1117440" imgH="380880" progId="Equation.DSMT4">
                    <p:embed/>
                  </p:oleObj>
                </mc:Choice>
                <mc:Fallback>
                  <p:oleObj name="Equation" r:id="rId11" imgW="111744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3728" y="2396821"/>
                          <a:ext cx="11176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12"/>
          <p:cNvGrpSpPr/>
          <p:nvPr/>
        </p:nvGrpSpPr>
        <p:grpSpPr>
          <a:xfrm>
            <a:off x="3435920" y="2264867"/>
            <a:ext cx="1182316" cy="622300"/>
            <a:chOff x="3435920" y="2264867"/>
            <a:chExt cx="1182316" cy="622300"/>
          </a:xfrm>
        </p:grpSpPr>
        <p:sp>
          <p:nvSpPr>
            <p:cNvPr id="14" name="Text Box 17"/>
            <p:cNvSpPr txBox="1">
              <a:spLocks noChangeArrowheads="1"/>
            </p:cNvSpPr>
            <p:nvPr/>
          </p:nvSpPr>
          <p:spPr bwMode="auto">
            <a:xfrm>
              <a:off x="3435920" y="2385358"/>
              <a:ext cx="6858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即</a:t>
              </a:r>
            </a:p>
          </p:txBody>
        </p:sp>
        <p:graphicFrame>
          <p:nvGraphicFramePr>
            <p:cNvPr id="15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3623788"/>
                </p:ext>
              </p:extLst>
            </p:nvPr>
          </p:nvGraphicFramePr>
          <p:xfrm>
            <a:off x="3995936" y="2264867"/>
            <a:ext cx="6223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7" name="Equation" r:id="rId13" imgW="622080" imgH="622080" progId="Equation.DSMT4">
                    <p:embed/>
                  </p:oleObj>
                </mc:Choice>
                <mc:Fallback>
                  <p:oleObj name="Equation" r:id="rId13" imgW="622080" imgH="622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5936" y="2264867"/>
                          <a:ext cx="622300" cy="622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Group 15"/>
          <p:cNvGrpSpPr/>
          <p:nvPr/>
        </p:nvGrpSpPr>
        <p:grpSpPr>
          <a:xfrm>
            <a:off x="413320" y="2859782"/>
            <a:ext cx="1864743" cy="622300"/>
            <a:chOff x="413320" y="2859782"/>
            <a:chExt cx="1864743" cy="622300"/>
          </a:xfrm>
        </p:grpSpPr>
        <p:sp>
          <p:nvSpPr>
            <p:cNvPr id="17" name="Text Box 21"/>
            <p:cNvSpPr txBox="1">
              <a:spLocks noChangeArrowheads="1"/>
            </p:cNvSpPr>
            <p:nvPr/>
          </p:nvSpPr>
          <p:spPr bwMode="auto">
            <a:xfrm>
              <a:off x="413320" y="2994506"/>
              <a:ext cx="8763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18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只</a:t>
              </a:r>
              <a:r>
                <a:rPr lang="zh-CN" altLang="en-US" sz="18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要取</a:t>
              </a:r>
              <a:endPara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aphicFrame>
          <p:nvGraphicFramePr>
            <p:cNvPr id="18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467370"/>
                </p:ext>
              </p:extLst>
            </p:nvPr>
          </p:nvGraphicFramePr>
          <p:xfrm>
            <a:off x="1338263" y="2859782"/>
            <a:ext cx="93980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8" name="Equation" r:id="rId15" imgW="939600" imgH="622080" progId="Equation.DSMT4">
                    <p:embed/>
                  </p:oleObj>
                </mc:Choice>
                <mc:Fallback>
                  <p:oleObj name="Equation" r:id="rId15" imgW="939600" imgH="622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338263" y="2859782"/>
                          <a:ext cx="939800" cy="622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Group 18"/>
          <p:cNvGrpSpPr/>
          <p:nvPr/>
        </p:nvGrpSpPr>
        <p:grpSpPr>
          <a:xfrm>
            <a:off x="2339752" y="3027363"/>
            <a:ext cx="2304256" cy="369332"/>
            <a:chOff x="2339752" y="3244156"/>
            <a:chExt cx="2304256" cy="369332"/>
          </a:xfrm>
        </p:grpSpPr>
        <p:sp>
          <p:nvSpPr>
            <p:cNvPr id="20" name="Text Box 23"/>
            <p:cNvSpPr txBox="1">
              <a:spLocks noChangeArrowheads="1"/>
            </p:cNvSpPr>
            <p:nvPr/>
          </p:nvSpPr>
          <p:spPr bwMode="auto">
            <a:xfrm>
              <a:off x="2339752" y="3244156"/>
              <a:ext cx="230425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18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则</a:t>
              </a:r>
              <a:r>
                <a:rPr lang="zh-CN" altLang="en-US" sz="18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当           时</a:t>
              </a:r>
              <a:r>
                <a:rPr lang="en-US" altLang="zh-CN" sz="18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, </a:t>
              </a:r>
              <a:r>
                <a:rPr lang="zh-CN" altLang="en-US" sz="18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就</a:t>
              </a:r>
              <a:r>
                <a:rPr lang="zh-CN" altLang="en-US" sz="18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有</a:t>
              </a:r>
              <a:endPara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aphicFrame>
          <p:nvGraphicFramePr>
            <p:cNvPr id="21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33634"/>
                </p:ext>
              </p:extLst>
            </p:nvPr>
          </p:nvGraphicFramePr>
          <p:xfrm>
            <a:off x="2962796" y="3315580"/>
            <a:ext cx="6731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9" name="Equation" r:id="rId17" imgW="672840" imgH="241200" progId="Equation.DSMT4">
                    <p:embed/>
                  </p:oleObj>
                </mc:Choice>
                <mc:Fallback>
                  <p:oleObj name="Equation" r:id="rId17" imgW="67284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962796" y="3315580"/>
                          <a:ext cx="6731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090949"/>
              </p:ext>
            </p:extLst>
          </p:nvPr>
        </p:nvGraphicFramePr>
        <p:xfrm>
          <a:off x="1979613" y="3507854"/>
          <a:ext cx="17907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Equation" r:id="rId19" imgW="1790640" imgH="749160" progId="Equation.DSMT4">
                  <p:embed/>
                </p:oleObj>
              </mc:Choice>
              <mc:Fallback>
                <p:oleObj name="Equation" r:id="rId19" imgW="1790640" imgH="749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507854"/>
                        <a:ext cx="17907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383332" y="4362658"/>
            <a:ext cx="8763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因此</a:t>
            </a:r>
            <a:endParaRPr lang="zh-CN" altLang="en-US" sz="18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2007670"/>
              </p:ext>
            </p:extLst>
          </p:nvPr>
        </p:nvGraphicFramePr>
        <p:xfrm>
          <a:off x="1979712" y="4227934"/>
          <a:ext cx="18415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1" name="Equation" r:id="rId21" imgW="1841400" imgH="647640" progId="Equation.DSMT4">
                  <p:embed/>
                </p:oleObj>
              </mc:Choice>
              <mc:Fallback>
                <p:oleObj name="Equation" r:id="rId21" imgW="184140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4227934"/>
                        <a:ext cx="18415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573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 advAuto="0"/>
      <p:bldP spid="2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395536" y="846137"/>
            <a:ext cx="838200" cy="4572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lang="zh-CN" altLang="en-US" sz="4400" b="0" kern="1200" spc="50" dirty="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zh-CN" altLang="en-US" sz="18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例 </a:t>
            </a:r>
            <a:r>
              <a:rPr lang="en-US" altLang="zh-CN" sz="18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8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</a:rPr>
              <a:t>设</a:t>
            </a:r>
            <a:endParaRPr lang="zh-CN" altLang="en-US" sz="1800" b="1" dirty="0">
              <a:solidFill>
                <a:schemeClr val="tx1"/>
              </a:solidFill>
              <a:effectLst/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3955286"/>
              </p:ext>
            </p:extLst>
          </p:nvPr>
        </p:nvGraphicFramePr>
        <p:xfrm>
          <a:off x="1175551" y="838172"/>
          <a:ext cx="874886" cy="389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1054080" imgH="469800" progId="Equation.3">
                  <p:embed/>
                </p:oleObj>
              </mc:Choice>
              <mc:Fallback>
                <p:oleObj name="Equation" r:id="rId3" imgW="10540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5551" y="838172"/>
                        <a:ext cx="874886" cy="3899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103314" y="834266"/>
            <a:ext cx="40526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证</a:t>
            </a: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明数列                        的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极限为 </a:t>
            </a: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0 . </a:t>
            </a:r>
            <a:endParaRPr lang="zh-CN" altLang="en-US" sz="18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353616" y="1455247"/>
            <a:ext cx="76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证明</a:t>
            </a:r>
            <a:endParaRPr lang="en-US" altLang="zh-CN" sz="1800" b="1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988939"/>
              </p:ext>
            </p:extLst>
          </p:nvPr>
        </p:nvGraphicFramePr>
        <p:xfrm>
          <a:off x="1259632" y="1455642"/>
          <a:ext cx="906260" cy="389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5" imgW="1091880" imgH="469800" progId="Equation.3">
                  <p:embed/>
                </p:oleObj>
              </mc:Choice>
              <mc:Fallback>
                <p:oleObj name="Equation" r:id="rId5" imgW="10918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1455642"/>
                        <a:ext cx="906260" cy="3899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726052"/>
              </p:ext>
            </p:extLst>
          </p:nvPr>
        </p:nvGraphicFramePr>
        <p:xfrm>
          <a:off x="2255869" y="1419622"/>
          <a:ext cx="1359540" cy="516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7" imgW="1638000" imgH="622080" progId="Equation.3">
                  <p:embed/>
                </p:oleObj>
              </mc:Choice>
              <mc:Fallback>
                <p:oleObj name="Equation" r:id="rId7" imgW="1638000" imgH="622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869" y="1419622"/>
                        <a:ext cx="1359540" cy="5163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3659319"/>
              </p:ext>
            </p:extLst>
          </p:nvPr>
        </p:nvGraphicFramePr>
        <p:xfrm>
          <a:off x="525901" y="2164725"/>
          <a:ext cx="1391213" cy="337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9" imgW="1676160" imgH="406080" progId="Equation.3">
                  <p:embed/>
                </p:oleObj>
              </mc:Choice>
              <mc:Fallback>
                <p:oleObj name="Equation" r:id="rId9" imgW="167616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01" y="2164725"/>
                        <a:ext cx="1391213" cy="3370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1992936" y="2153093"/>
            <a:ext cx="7235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要使</a:t>
            </a:r>
            <a:endParaRPr lang="zh-CN" altLang="en-US" sz="18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0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798431"/>
              </p:ext>
            </p:extLst>
          </p:nvPr>
        </p:nvGraphicFramePr>
        <p:xfrm>
          <a:off x="2626714" y="2163712"/>
          <a:ext cx="1486231" cy="389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11" imgW="1790640" imgH="469800" progId="Equation.3">
                  <p:embed/>
                </p:oleObj>
              </mc:Choice>
              <mc:Fallback>
                <p:oleObj name="Equation" r:id="rId11" imgW="179064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6714" y="2163712"/>
                        <a:ext cx="1486231" cy="3899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4145400" y="2147156"/>
            <a:ext cx="647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只要</a:t>
            </a:r>
          </a:p>
        </p:txBody>
      </p:sp>
      <p:graphicFrame>
        <p:nvGraphicFramePr>
          <p:cNvPr id="12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553815"/>
              </p:ext>
            </p:extLst>
          </p:nvPr>
        </p:nvGraphicFramePr>
        <p:xfrm>
          <a:off x="4822365" y="2099953"/>
          <a:ext cx="1254362" cy="46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Equation" r:id="rId13" imgW="1511280" imgH="558720" progId="Equation.3">
                  <p:embed/>
                </p:oleObj>
              </mc:Choice>
              <mc:Fallback>
                <p:oleObj name="Equation" r:id="rId13" imgW="1511280" imgH="558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2365" y="2099953"/>
                        <a:ext cx="1254362" cy="46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0"/>
          <p:cNvSpPr txBox="1">
            <a:spLocks noChangeArrowheads="1"/>
          </p:cNvSpPr>
          <p:nvPr/>
        </p:nvSpPr>
        <p:spPr bwMode="auto">
          <a:xfrm>
            <a:off x="429816" y="2775187"/>
            <a:ext cx="5290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即</a:t>
            </a:r>
          </a:p>
        </p:txBody>
      </p:sp>
      <p:graphicFrame>
        <p:nvGraphicFramePr>
          <p:cNvPr id="14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3087238"/>
              </p:ext>
            </p:extLst>
          </p:nvPr>
        </p:nvGraphicFramePr>
        <p:xfrm>
          <a:off x="1115616" y="2834712"/>
          <a:ext cx="2234426" cy="389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15" imgW="2692080" imgH="469800" progId="Equation.3">
                  <p:embed/>
                </p:oleObj>
              </mc:Choice>
              <mc:Fallback>
                <p:oleObj name="Equation" r:id="rId15" imgW="26920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2834712"/>
                        <a:ext cx="2234426" cy="3899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22"/>
          <p:cNvSpPr txBox="1">
            <a:spLocks noChangeArrowheads="1"/>
          </p:cNvSpPr>
          <p:nvPr/>
        </p:nvSpPr>
        <p:spPr bwMode="auto">
          <a:xfrm>
            <a:off x="3479924" y="2805264"/>
            <a:ext cx="8040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亦即</a:t>
            </a:r>
          </a:p>
        </p:txBody>
      </p:sp>
      <p:sp>
        <p:nvSpPr>
          <p:cNvPr id="16" name="Text Box 24"/>
          <p:cNvSpPr txBox="1">
            <a:spLocks noChangeArrowheads="1"/>
          </p:cNvSpPr>
          <p:nvPr/>
        </p:nvSpPr>
        <p:spPr bwMode="auto">
          <a:xfrm>
            <a:off x="409182" y="3586405"/>
            <a:ext cx="12239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因此 </a:t>
            </a: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取</a:t>
            </a:r>
          </a:p>
        </p:txBody>
      </p:sp>
      <p:graphicFrame>
        <p:nvGraphicFramePr>
          <p:cNvPr id="1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310837"/>
              </p:ext>
            </p:extLst>
          </p:nvPr>
        </p:nvGraphicFramePr>
        <p:xfrm>
          <a:off x="1659962" y="3480884"/>
          <a:ext cx="1981642" cy="790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Equation" r:id="rId17" imgW="2387520" imgH="952200" progId="Equation.3">
                  <p:embed/>
                </p:oleObj>
              </mc:Choice>
              <mc:Fallback>
                <p:oleObj name="Equation" r:id="rId17" imgW="238752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9962" y="3480884"/>
                        <a:ext cx="1981642" cy="7903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6"/>
          <p:cNvSpPr txBox="1">
            <a:spLocks noChangeArrowheads="1"/>
          </p:cNvSpPr>
          <p:nvPr/>
        </p:nvSpPr>
        <p:spPr bwMode="auto">
          <a:xfrm>
            <a:off x="3842006" y="3586405"/>
            <a:ext cx="19303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则当 </a:t>
            </a:r>
            <a:r>
              <a:rPr lang="en-US" altLang="zh-CN" sz="1800" i="1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en-US" altLang="zh-CN" sz="18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&gt; </a:t>
            </a:r>
            <a:r>
              <a:rPr lang="en-US" altLang="zh-CN" sz="1800" i="1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 </a:t>
            </a:r>
            <a:r>
              <a:rPr lang="en-US" altLang="zh-CN" sz="18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时</a:t>
            </a:r>
            <a:r>
              <a:rPr lang="en-US" altLang="zh-CN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,</a:t>
            </a:r>
          </a:p>
        </p:txBody>
      </p:sp>
      <p:sp>
        <p:nvSpPr>
          <p:cNvPr id="19" name="Text Box 27"/>
          <p:cNvSpPr txBox="1">
            <a:spLocks noChangeArrowheads="1"/>
          </p:cNvSpPr>
          <p:nvPr/>
        </p:nvSpPr>
        <p:spPr bwMode="auto">
          <a:xfrm>
            <a:off x="395536" y="4434666"/>
            <a:ext cx="8039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就有</a:t>
            </a:r>
          </a:p>
        </p:txBody>
      </p:sp>
      <p:graphicFrame>
        <p:nvGraphicFramePr>
          <p:cNvPr id="2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9950185"/>
              </p:ext>
            </p:extLst>
          </p:nvPr>
        </p:nvGraphicFramePr>
        <p:xfrm>
          <a:off x="1115616" y="4361475"/>
          <a:ext cx="1591409" cy="442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Equation" r:id="rId19" imgW="1917360" imgH="533160" progId="Equation.3">
                  <p:embed/>
                </p:oleObj>
              </mc:Choice>
              <mc:Fallback>
                <p:oleObj name="Equation" r:id="rId19" imgW="1917360" imgH="533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4361475"/>
                        <a:ext cx="1591409" cy="4425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9"/>
          <p:cNvSpPr txBox="1">
            <a:spLocks noChangeArrowheads="1"/>
          </p:cNvSpPr>
          <p:nvPr/>
        </p:nvSpPr>
        <p:spPr bwMode="auto">
          <a:xfrm>
            <a:off x="3003806" y="4371950"/>
            <a:ext cx="838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故</a:t>
            </a:r>
          </a:p>
        </p:txBody>
      </p:sp>
      <p:graphicFrame>
        <p:nvGraphicFramePr>
          <p:cNvPr id="2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136460"/>
              </p:ext>
            </p:extLst>
          </p:nvPr>
        </p:nvGraphicFramePr>
        <p:xfrm>
          <a:off x="3491880" y="4335567"/>
          <a:ext cx="1507147" cy="569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Equation" r:id="rId21" imgW="1815840" imgH="685800" progId="Equation.3">
                  <p:embed/>
                </p:oleObj>
              </mc:Choice>
              <mc:Fallback>
                <p:oleObj name="Equation" r:id="rId21" imgW="181584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4335567"/>
                        <a:ext cx="1507147" cy="5692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2921833"/>
              </p:ext>
            </p:extLst>
          </p:nvPr>
        </p:nvGraphicFramePr>
        <p:xfrm>
          <a:off x="4191001" y="2644212"/>
          <a:ext cx="1560035" cy="790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Equation" r:id="rId23" imgW="1879560" imgH="952200" progId="Equation.3">
                  <p:embed/>
                </p:oleObj>
              </mc:Choice>
              <mc:Fallback>
                <p:oleObj name="Equation" r:id="rId23" imgW="1879560" imgH="95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lum bright="100000" contrast="51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2644212"/>
                        <a:ext cx="1560035" cy="7903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8905031"/>
              </p:ext>
            </p:extLst>
          </p:nvPr>
        </p:nvGraphicFramePr>
        <p:xfrm>
          <a:off x="3673834" y="1426255"/>
          <a:ext cx="948690" cy="46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Equation" r:id="rId25" imgW="1143000" imgH="558720" progId="Equation.3">
                  <p:embed/>
                </p:oleObj>
              </mc:Choice>
              <mc:Fallback>
                <p:oleObj name="Equation" r:id="rId25" imgW="1143000" imgH="558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3834" y="1426255"/>
                        <a:ext cx="948690" cy="46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1344060"/>
              </p:ext>
            </p:extLst>
          </p:nvPr>
        </p:nvGraphicFramePr>
        <p:xfrm>
          <a:off x="3227882" y="847998"/>
          <a:ext cx="1435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8" name="Equation" r:id="rId27" imgW="1434960" imgH="355320" progId="Equation.DSMT4">
                  <p:embed/>
                </p:oleObj>
              </mc:Choice>
              <mc:Fallback>
                <p:oleObj name="Equation" r:id="rId27" imgW="14349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227882" y="847998"/>
                        <a:ext cx="14351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122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9" grpId="0" autoUpdateAnimBg="0"/>
      <p:bldP spid="11" grpId="0" autoUpdateAnimBg="0"/>
      <p:bldP spid="13" grpId="0" autoUpdateAnimBg="0"/>
      <p:bldP spid="15" grpId="0" autoUpdateAnimBg="0"/>
      <p:bldP spid="16" grpId="0" autoUpdateAnimBg="0"/>
      <p:bldP spid="18" grpId="0" autoUpdateAnimBg="0"/>
      <p:bldP spid="19" grpId="0" autoUpdateAnimBg="0"/>
      <p:bldP spid="21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4414" y="1714494"/>
            <a:ext cx="3427541" cy="16594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36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本节内容结束，</a:t>
            </a:r>
            <a:endParaRPr lang="en-US" altLang="zh-CN" sz="36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36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谢谢同学们！</a:t>
            </a:r>
          </a:p>
        </p:txBody>
      </p:sp>
    </p:spTree>
    <p:extLst>
      <p:ext uri="{BB962C8B-B14F-4D97-AF65-F5344CB8AC3E}">
        <p14:creationId xmlns:p14="http://schemas.microsoft.com/office/powerpoint/2010/main" val="321293901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凤舞九天">
  <a:themeElements>
    <a:clrScheme name="凤舞九天">
      <a:dk1>
        <a:sysClr val="windowText" lastClr="000000"/>
      </a:dk1>
      <a:lt1>
        <a:sysClr val="window" lastClr="FFFFFF"/>
      </a:lt1>
      <a:dk2>
        <a:srgbClr val="004646"/>
      </a:dk2>
      <a:lt2>
        <a:srgbClr val="E1F0FF"/>
      </a:lt2>
      <a:accent1>
        <a:srgbClr val="50742F"/>
      </a:accent1>
      <a:accent2>
        <a:srgbClr val="268868"/>
      </a:accent2>
      <a:accent3>
        <a:srgbClr val="33BD56"/>
      </a:accent3>
      <a:accent4>
        <a:srgbClr val="4BC5B9"/>
      </a:accent4>
      <a:accent5>
        <a:srgbClr val="3163CA"/>
      </a:accent5>
      <a:accent6>
        <a:srgbClr val="4B14AA"/>
      </a:accent6>
      <a:hlink>
        <a:srgbClr val="D9BE02"/>
      </a:hlink>
      <a:folHlink>
        <a:srgbClr val="F900F9"/>
      </a:folHlink>
    </a:clrScheme>
    <a:fontScheme name="凤舞九天">
      <a:majorFont>
        <a:latin typeface="Footlight MT Light"/>
        <a:ea typeface=""/>
        <a:cs typeface=""/>
        <a:font script="Jpan" typeface="ＭＳ Ｐゴシック"/>
        <a:font script="Hang" typeface="맑은 고딕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oudy Old Style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凤舞九天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atMod val="180000"/>
              </a:schemeClr>
            </a:gs>
            <a:gs pos="50000">
              <a:schemeClr val="phClr">
                <a:tint val="40000"/>
                <a:satMod val="175000"/>
              </a:schemeClr>
            </a:gs>
            <a:gs pos="100000">
              <a:schemeClr val="phClr">
                <a:tint val="65000"/>
                <a:satMod val="180000"/>
              </a:schemeClr>
            </a:gs>
          </a:gsLst>
          <a:lin ang="0" scaled="1"/>
        </a:gradFill>
        <a:gradFill rotWithShape="1">
          <a:gsLst>
            <a:gs pos="0">
              <a:schemeClr val="phClr">
                <a:shade val="38000"/>
                <a:satMod val="150000"/>
              </a:schemeClr>
            </a:gs>
            <a:gs pos="50000">
              <a:schemeClr val="phClr">
                <a:shade val="100000"/>
                <a:satMod val="100000"/>
              </a:schemeClr>
            </a:gs>
            <a:gs pos="100000">
              <a:schemeClr val="phClr">
                <a:shade val="38000"/>
                <a:satMod val="150000"/>
              </a:schemeClr>
            </a:gs>
          </a:gsLst>
          <a:lin ang="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tile tx="0" ty="0" sx="50000" sy="50000" flip="x" algn="tl"/>
        </a:blipFill>
      </a:bgFillStyleLst>
    </a:fmtScheme>
  </a:themeElements>
  <a:objectDefaults>
    <a:spDef>
      <a:spPr/>
      <a:bodyPr wrap="none">
        <a:spAutoFit/>
      </a:bodyPr>
      <a:lstStyle>
        <a:defPPr>
          <a:defRPr sz="1800" dirty="0" smtClean="0">
            <a:solidFill>
              <a:schemeClr val="tx1"/>
            </a:solidFill>
            <a:latin typeface="微软雅黑" pitchFamily="34" charset="-122"/>
            <a:ea typeface="微软雅黑" pitchFamily="34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defRPr sz="1800" dirty="0" err="1" smtClean="0">
            <a:solidFill>
              <a:schemeClr val="tx1"/>
            </a:solidFill>
            <a:latin typeface="微软雅黑" pitchFamily="34" charset="-122"/>
            <a:ea typeface="微软雅黑" pitchFamily="34" charset="-122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4649</TotalTime>
  <Words>511</Words>
  <Application>Microsoft Office PowerPoint</Application>
  <PresentationFormat>Custom</PresentationFormat>
  <Paragraphs>55</Paragraphs>
  <Slides>11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自定义设计方案</vt:lpstr>
      <vt:lpstr>凤舞九天</vt:lpstr>
      <vt:lpstr>Equation</vt:lpstr>
      <vt:lpstr>公式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Lenovo User</dc:creator>
  <cp:lastModifiedBy>Lenovo-Think</cp:lastModifiedBy>
  <cp:revision>604</cp:revision>
  <dcterms:created xsi:type="dcterms:W3CDTF">2011-03-16T06:09:57Z</dcterms:created>
  <dcterms:modified xsi:type="dcterms:W3CDTF">2016-08-13T02:37:46Z</dcterms:modified>
</cp:coreProperties>
</file>